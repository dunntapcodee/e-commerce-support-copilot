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thầy cô và anh chị. Hôm nay em xin trình bày tóm lược 2 module kỹ thuật cốt lõi của dự án AI Copilot CSKH: Module 2 giải bài toán tra cứu tri thức chính sách sàn TMĐT (RAG), và Module 3 giải bài toán truy xuất CSDL đơn hàng và gọi công cụ nghiệp vụ theo thời gian thực (Tool Calling).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Module 2, nhóm đã thử nghiệm 5 trường phái tìm kiếm trên 55 câu hỏi tiếng Việt có nhãn. Kết quả thực nghiệm chứng minh BM25 cho độ chính xác cao hơn mô hình Dense (100% vs 86.5%) mà tốc độ cực nhanh chỉ 0.66 mili-giây, hoàn toàn đáp ứng chỉ tiêu thời gian thực trên CPU.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giải quyết điểm nghẽn đọc file JSON và Regex cứng bằng 4 trụ cột: Di chuyển CSDL có chỉ mục B-Tree, dựng bộ nhớ đệm LRU Cache trên RAM, chuẩn hóa 4 Tool nghiệp vụ theo chuẩn JSON Schema, và trang bị bộ não ReAct Agent tự bóc tách thực thể.</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trên cho thấy SQLite + LRU Cache đưa thời gian tra cứu về 17 micro-giây, chịu tải hơn 11,500 lượt/giây. Bảng dưới chứng minh ReAct Agent nâng F1 từ 77% lên 100% và nhận diện đúng 87.5% ý định để tự động hủy đơn hoặc tra cứu bưu tá GHN.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Toàn bộ hệ thống đã được kiểm thử tự động với 18/18 bài test vượt qua. Trên giao diện Streamlit, khi gõ câu hỏi bằng SĐT hoặc yêu cầu hủy đơn, hệ thống sẽ tự động gọi tool và cập nhật thẳng vào CSDL trước mắt nhân viên CSKH.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lại, Module 2 giúp AI hiểu luật và trích dẫn chính xác trong chưa đầy 1 mili-giây. Module 3 giúp AI có đôi tay hành động, tra cứu và thao tác trực tiếp vào dữ liệu nghiệp vụ với thông lượng hơn 11 nghìn lượt mỗi giây. Em xin chân thành cảm 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731520" y="1645920"/>
            <a:ext cx="137160" cy="3291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463040"/>
            <a:ext cx="10058400" cy="3474720"/>
          </a:xfrm>
          <a:prstGeom prst="rect">
            <a:avLst/>
          </a:prstGeom>
          <a:noFill/>
        </p:spPr>
        <p:txBody>
          <a:bodyPr wrap="square">
            <a:spAutoFit/>
          </a:bodyPr>
          <a:lstStyle/>
          <a:p>
            <a:pPr>
              <a:spcAft>
                <a:spcPts val="1000"/>
              </a:spcAft>
              <a:defRPr sz="1300" b="1">
                <a:solidFill>
                  <a:srgbClr val="2E75B6"/>
                </a:solidFill>
              </a:defRPr>
            </a:pPr>
            <a:r>
              <a:t>AI CUSTOMER SUPPORT COPILOT (E-COMMERCE)</a:t>
            </a:r>
          </a:p>
          <a:p>
            <a:pPr>
              <a:spcAft>
                <a:spcPts val="1000"/>
              </a:spcAft>
              <a:defRPr sz="2600" b="1">
                <a:solidFill>
                  <a:srgbClr val="1F4E79"/>
                </a:solidFill>
              </a:defRPr>
            </a:pPr>
            <a:r>
              <a:t>Tối ưu hóa RAG Chính sách &amp; Tích hợp Dữ liệu Động Thời gian thực</a:t>
            </a:r>
          </a:p>
          <a:p>
            <a:pPr>
              <a:spcAft>
                <a:spcPts val="2000"/>
              </a:spcAft>
              <a:defRPr sz="1300">
                <a:solidFill>
                  <a:srgbClr val="282D37"/>
                </a:solidFill>
              </a:defRPr>
            </a:pPr>
            <a:r>
              <a:t>Báo cáo Thực nghiệm &amp; Giải pháp Kỹ thuật Trọng tâm cho Module 2 &amp; Module 3 (Gói gọn 6 trang)</a:t>
            </a:r>
          </a:p>
          <a:p>
            <a:pPr>
              <a:defRPr sz="1100" b="1">
                <a:solidFill>
                  <a:srgbClr val="107C41"/>
                </a:solidFill>
              </a:defRPr>
            </a:pPr>
            <a:r>
              <a:t>⚡ Module 2: BM25 Latency 0.66 ms (Hit Rate 100%)    |    ⚡ Module 3: LRU Cache 11,532 QPS (F1 100%)    |    ⚡ 18/18 Tests Passed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a:spAutoFit/>
          </a:bodyPr>
          <a:lstStyle/>
          <a:p>
            <a:pPr>
              <a:defRPr sz="950" b="1">
                <a:solidFill>
                  <a:srgbClr val="2E75B6"/>
                </a:solidFill>
              </a:defRPr>
            </a:pPr>
            <a:r>
              <a:t>AI CUSTOMER SUPPORT COPILOT • MODULE 2 &amp; 3</a:t>
            </a:r>
          </a:p>
        </p:txBody>
      </p:sp>
      <p:sp>
        <p:nvSpPr>
          <p:cNvPr id="3" name="TextBox 2"/>
          <p:cNvSpPr txBox="1"/>
          <p:nvPr/>
        </p:nvSpPr>
        <p:spPr>
          <a:xfrm>
            <a:off x="731520" y="594360"/>
            <a:ext cx="10698480" cy="594360"/>
          </a:xfrm>
          <a:prstGeom prst="rect">
            <a:avLst/>
          </a:prstGeom>
          <a:noFill/>
        </p:spPr>
        <p:txBody>
          <a:bodyPr wrap="square">
            <a:spAutoFit/>
          </a:bodyPr>
          <a:lstStyle/>
          <a:p>
            <a:pPr>
              <a:defRPr sz="2100" b="1">
                <a:solidFill>
                  <a:srgbClr val="1F4E79"/>
                </a:solidFill>
              </a:defRPr>
            </a:pPr>
            <a:r>
              <a:t>Module 2: Tối ưu hóa RAG &amp; Tìm kiếm Chính sách Sàn TMĐT</a:t>
            </a:r>
          </a:p>
        </p:txBody>
      </p:sp>
      <p:graphicFrame>
        <p:nvGraphicFramePr>
          <p:cNvPr id="4" name="Table 3"/>
          <p:cNvGraphicFramePr>
            <a:graphicFrameLocks noGrp="1"/>
          </p:cNvGraphicFramePr>
          <p:nvPr/>
        </p:nvGraphicFramePr>
        <p:xfrm>
          <a:off x="731520" y="1371600"/>
          <a:ext cx="10698480" cy="2468880"/>
        </p:xfrm>
        <a:graphic>
          <a:graphicData uri="http://schemas.openxmlformats.org/drawingml/2006/table">
            <a:tbl>
              <a:tblPr firstRow="1" bandRow="1">
                <a:tableStyleId>{5C22544A-7EE6-4342-B048-85BDC9FD1C3A}</a:tableStyleId>
              </a:tblPr>
              <a:tblGrid>
                <a:gridCol w="2468880"/>
                <a:gridCol w="1371600"/>
                <a:gridCol w="1371600"/>
                <a:gridCol w="1280160"/>
                <a:gridCol w="1280160"/>
                <a:gridCol w="1280160"/>
                <a:gridCol w="1645920"/>
              </a:tblGrid>
              <a:tr h="411480">
                <a:tc>
                  <a:txBody>
                    <a:bodyPr/>
                    <a:lstStyle/>
                    <a:p>
                      <a:pPr algn="ctr">
                        <a:defRPr sz="1000" b="1">
                          <a:solidFill>
                            <a:srgbClr val="FFFFFF"/>
                          </a:solidFill>
                        </a:defRPr>
                      </a:pPr>
                      <a:r>
                        <a:t>Thuật toán Retrieval</a:t>
                      </a:r>
                    </a:p>
                  </a:txBody>
                  <a:tcPr anchor="ctr">
                    <a:solidFill>
                      <a:srgbClr val="1F4E79"/>
                    </a:solidFill>
                  </a:tcPr>
                </a:tc>
                <a:tc>
                  <a:txBody>
                    <a:bodyPr/>
                    <a:lstStyle/>
                    <a:p>
                      <a:pPr algn="ctr">
                        <a:defRPr sz="1000" b="1">
                          <a:solidFill>
                            <a:srgbClr val="FFFFFF"/>
                          </a:solidFill>
                        </a:defRPr>
                      </a:pPr>
                      <a:r>
                        <a:t>Hit Rate@3</a:t>
                      </a:r>
                    </a:p>
                  </a:txBody>
                  <a:tcPr anchor="ctr">
                    <a:solidFill>
                      <a:srgbClr val="1F4E79"/>
                    </a:solidFill>
                  </a:tcPr>
                </a:tc>
                <a:tc>
                  <a:txBody>
                    <a:bodyPr/>
                    <a:lstStyle/>
                    <a:p>
                      <a:pPr algn="ctr">
                        <a:defRPr sz="1000" b="1">
                          <a:solidFill>
                            <a:srgbClr val="FFFFFF"/>
                          </a:solidFill>
                        </a:defRPr>
                      </a:pPr>
                      <a:r>
                        <a:t>Recall@3</a:t>
                      </a:r>
                    </a:p>
                  </a:txBody>
                  <a:tcPr anchor="ctr">
                    <a:solidFill>
                      <a:srgbClr val="1F4E79"/>
                    </a:solidFill>
                  </a:tcPr>
                </a:tc>
                <a:tc>
                  <a:txBody>
                    <a:bodyPr/>
                    <a:lstStyle/>
                    <a:p>
                      <a:pPr algn="ctr">
                        <a:defRPr sz="1000" b="1">
                          <a:solidFill>
                            <a:srgbClr val="FFFFFF"/>
                          </a:solidFill>
                        </a:defRPr>
                      </a:pPr>
                      <a:r>
                        <a:t>MRR@3</a:t>
                      </a:r>
                    </a:p>
                  </a:txBody>
                  <a:tcPr anchor="ctr">
                    <a:solidFill>
                      <a:srgbClr val="1F4E79"/>
                    </a:solidFill>
                  </a:tcPr>
                </a:tc>
                <a:tc>
                  <a:txBody>
                    <a:bodyPr/>
                    <a:lstStyle/>
                    <a:p>
                      <a:pPr algn="ctr">
                        <a:defRPr sz="1000" b="1">
                          <a:solidFill>
                            <a:srgbClr val="FFFFFF"/>
                          </a:solidFill>
                        </a:defRPr>
                      </a:pPr>
                      <a:r>
                        <a:t>p50 (ms)</a:t>
                      </a:r>
                    </a:p>
                  </a:txBody>
                  <a:tcPr anchor="ctr">
                    <a:solidFill>
                      <a:srgbClr val="1F4E79"/>
                    </a:solidFill>
                  </a:tcPr>
                </a:tc>
                <a:tc>
                  <a:txBody>
                    <a:bodyPr/>
                    <a:lstStyle/>
                    <a:p>
                      <a:pPr algn="ctr">
                        <a:defRPr sz="1000" b="1">
                          <a:solidFill>
                            <a:srgbClr val="FFFFFF"/>
                          </a:solidFill>
                        </a:defRPr>
                      </a:pPr>
                      <a:r>
                        <a:t>p95 (ms)</a:t>
                      </a:r>
                    </a:p>
                  </a:txBody>
                  <a:tcPr anchor="ctr">
                    <a:solidFill>
                      <a:srgbClr val="1F4E79"/>
                    </a:solidFill>
                  </a:tcPr>
                </a:tc>
                <a:tc>
                  <a:txBody>
                    <a:bodyPr/>
                    <a:lstStyle/>
                    <a:p>
                      <a:pPr algn="ctr">
                        <a:defRPr sz="1000" b="1">
                          <a:solidFill>
                            <a:srgbClr val="FFFFFF"/>
                          </a:solidFill>
                        </a:defRPr>
                      </a:pPr>
                      <a:r>
                        <a:t>Đạt &lt; 15ms?</a:t>
                      </a:r>
                    </a:p>
                  </a:txBody>
                  <a:tcPr anchor="ctr">
                    <a:solidFill>
                      <a:srgbClr val="1F4E79"/>
                    </a:solidFill>
                  </a:tcPr>
                </a:tc>
              </a:tr>
              <a:tr h="411480">
                <a:tc>
                  <a:txBody>
                    <a:bodyPr/>
                    <a:lstStyle/>
                    <a:p>
                      <a:pPr algn="l">
                        <a:defRPr sz="950">
                          <a:solidFill>
                            <a:srgbClr val="282D37"/>
                          </a:solidFill>
                        </a:defRPr>
                      </a:pPr>
                      <a:r>
                        <a:t>1. BM25Okapi (Mặc định)</a:t>
                      </a:r>
                    </a:p>
                  </a:txBody>
                  <a:tcPr anchor="ctr">
                    <a:solidFill>
                      <a:srgbClr val="FFFFFF"/>
                    </a:solidFill>
                  </a:tcPr>
                </a:tc>
                <a:tc>
                  <a:txBody>
                    <a:bodyPr/>
                    <a:lstStyle/>
                    <a:p>
                      <a:pPr algn="ctr">
                        <a:defRPr sz="950">
                          <a:solidFill>
                            <a:srgbClr val="282D37"/>
                          </a:solidFill>
                        </a:defRPr>
                      </a:pPr>
                      <a:r>
                        <a:t>100.00%</a:t>
                      </a:r>
                    </a:p>
                  </a:txBody>
                  <a:tcPr anchor="ctr">
                    <a:solidFill>
                      <a:srgbClr val="FFFFFF"/>
                    </a:solidFill>
                  </a:tcPr>
                </a:tc>
                <a:tc>
                  <a:txBody>
                    <a:bodyPr/>
                    <a:lstStyle/>
                    <a:p>
                      <a:pPr algn="ctr">
                        <a:defRPr sz="950">
                          <a:solidFill>
                            <a:srgbClr val="282D37"/>
                          </a:solidFill>
                        </a:defRPr>
                      </a:pPr>
                      <a:r>
                        <a:t>99.04%</a:t>
                      </a:r>
                    </a:p>
                  </a:txBody>
                  <a:tcPr anchor="ctr">
                    <a:solidFill>
                      <a:srgbClr val="FFFFFF"/>
                    </a:solidFill>
                  </a:tcPr>
                </a:tc>
                <a:tc>
                  <a:txBody>
                    <a:bodyPr/>
                    <a:lstStyle/>
                    <a:p>
                      <a:pPr algn="ctr">
                        <a:defRPr sz="950">
                          <a:solidFill>
                            <a:srgbClr val="282D37"/>
                          </a:solidFill>
                        </a:defRPr>
                      </a:pPr>
                      <a:r>
                        <a:t>0.9808</a:t>
                      </a:r>
                    </a:p>
                  </a:txBody>
                  <a:tcPr anchor="ctr">
                    <a:solidFill>
                      <a:srgbClr val="FFFFFF"/>
                    </a:solidFill>
                  </a:tcPr>
                </a:tc>
                <a:tc>
                  <a:txBody>
                    <a:bodyPr/>
                    <a:lstStyle/>
                    <a:p>
                      <a:pPr algn="ctr">
                        <a:defRPr sz="950">
                          <a:solidFill>
                            <a:srgbClr val="282D37"/>
                          </a:solidFill>
                        </a:defRPr>
                      </a:pPr>
                      <a:r>
                        <a:t>0.30 ms</a:t>
                      </a:r>
                    </a:p>
                  </a:txBody>
                  <a:tcPr anchor="ctr">
                    <a:solidFill>
                      <a:srgbClr val="FFFFFF"/>
                    </a:solidFill>
                  </a:tcPr>
                </a:tc>
                <a:tc>
                  <a:txBody>
                    <a:bodyPr/>
                    <a:lstStyle/>
                    <a:p>
                      <a:pPr algn="ctr">
                        <a:defRPr sz="950">
                          <a:solidFill>
                            <a:srgbClr val="282D37"/>
                          </a:solidFill>
                        </a:defRPr>
                      </a:pPr>
                      <a:r>
                        <a:t>0.66 ms</a:t>
                      </a:r>
                    </a:p>
                  </a:txBody>
                  <a:tcPr anchor="ctr">
                    <a:solidFill>
                      <a:srgbClr val="FFFFFF"/>
                    </a:solidFill>
                  </a:tcPr>
                </a:tc>
                <a:tc>
                  <a:txBody>
                    <a:bodyPr/>
                    <a:lstStyle/>
                    <a:p>
                      <a:pPr algn="ctr">
                        <a:defRPr sz="950">
                          <a:solidFill>
                            <a:srgbClr val="282D37"/>
                          </a:solidFill>
                        </a:defRPr>
                      </a:pPr>
                      <a:r>
                        <a:t>✅ XUẤT SẮC</a:t>
                      </a:r>
                    </a:p>
                  </a:txBody>
                  <a:tcPr anchor="ctr">
                    <a:solidFill>
                      <a:srgbClr val="FFFFFF"/>
                    </a:solidFill>
                  </a:tcPr>
                </a:tc>
              </a:tr>
              <a:tr h="411480">
                <a:tc>
                  <a:txBody>
                    <a:bodyPr/>
                    <a:lstStyle/>
                    <a:p>
                      <a:pPr algn="l">
                        <a:defRPr sz="950">
                          <a:solidFill>
                            <a:srgbClr val="282D37"/>
                          </a:solidFill>
                        </a:defRPr>
                      </a:pPr>
                      <a:r>
                        <a:t>2. TF-IDF + Cosine (Baseline)</a:t>
                      </a:r>
                    </a:p>
                  </a:txBody>
                  <a:tcPr anchor="ctr">
                    <a:solidFill>
                      <a:srgbClr val="F8FAFC"/>
                    </a:solidFill>
                  </a:tcPr>
                </a:tc>
                <a:tc>
                  <a:txBody>
                    <a:bodyPr/>
                    <a:lstStyle/>
                    <a:p>
                      <a:pPr algn="ctr">
                        <a:defRPr sz="950">
                          <a:solidFill>
                            <a:srgbClr val="282D37"/>
                          </a:solidFill>
                        </a:defRPr>
                      </a:pPr>
                      <a:r>
                        <a:t>100.00%</a:t>
                      </a:r>
                    </a:p>
                  </a:txBody>
                  <a:tcPr anchor="ctr">
                    <a:solidFill>
                      <a:srgbClr val="F8FAFC"/>
                    </a:solidFill>
                  </a:tcPr>
                </a:tc>
                <a:tc>
                  <a:txBody>
                    <a:bodyPr/>
                    <a:lstStyle/>
                    <a:p>
                      <a:pPr algn="ctr">
                        <a:defRPr sz="950">
                          <a:solidFill>
                            <a:srgbClr val="282D37"/>
                          </a:solidFill>
                        </a:defRPr>
                      </a:pPr>
                      <a:r>
                        <a:t>99.04%</a:t>
                      </a:r>
                    </a:p>
                  </a:txBody>
                  <a:tcPr anchor="ctr">
                    <a:solidFill>
                      <a:srgbClr val="F8FAFC"/>
                    </a:solidFill>
                  </a:tcPr>
                </a:tc>
                <a:tc>
                  <a:txBody>
                    <a:bodyPr/>
                    <a:lstStyle/>
                    <a:p>
                      <a:pPr algn="ctr">
                        <a:defRPr sz="950">
                          <a:solidFill>
                            <a:srgbClr val="282D37"/>
                          </a:solidFill>
                        </a:defRPr>
                      </a:pPr>
                      <a:r>
                        <a:t>0.9808</a:t>
                      </a:r>
                    </a:p>
                  </a:txBody>
                  <a:tcPr anchor="ctr">
                    <a:solidFill>
                      <a:srgbClr val="F8FAFC"/>
                    </a:solidFill>
                  </a:tcPr>
                </a:tc>
                <a:tc>
                  <a:txBody>
                    <a:bodyPr/>
                    <a:lstStyle/>
                    <a:p>
                      <a:pPr algn="ctr">
                        <a:defRPr sz="950">
                          <a:solidFill>
                            <a:srgbClr val="282D37"/>
                          </a:solidFill>
                        </a:defRPr>
                      </a:pPr>
                      <a:r>
                        <a:t>1.13 ms</a:t>
                      </a:r>
                    </a:p>
                  </a:txBody>
                  <a:tcPr anchor="ctr">
                    <a:solidFill>
                      <a:srgbClr val="F8FAFC"/>
                    </a:solidFill>
                  </a:tcPr>
                </a:tc>
                <a:tc>
                  <a:txBody>
                    <a:bodyPr/>
                    <a:lstStyle/>
                    <a:p>
                      <a:pPr algn="ctr">
                        <a:defRPr sz="950">
                          <a:solidFill>
                            <a:srgbClr val="282D37"/>
                          </a:solidFill>
                        </a:defRPr>
                      </a:pPr>
                      <a:r>
                        <a:t>2.39 ms</a:t>
                      </a:r>
                    </a:p>
                  </a:txBody>
                  <a:tcPr anchor="ctr">
                    <a:solidFill>
                      <a:srgbClr val="F8FAFC"/>
                    </a:solidFill>
                  </a:tcPr>
                </a:tc>
                <a:tc>
                  <a:txBody>
                    <a:bodyPr/>
                    <a:lstStyle/>
                    <a:p>
                      <a:pPr algn="ctr">
                        <a:defRPr sz="950">
                          <a:solidFill>
                            <a:srgbClr val="282D37"/>
                          </a:solidFill>
                        </a:defRPr>
                      </a:pPr>
                      <a:r>
                        <a:t>✅ ĐẠT</a:t>
                      </a:r>
                    </a:p>
                  </a:txBody>
                  <a:tcPr anchor="ctr">
                    <a:solidFill>
                      <a:srgbClr val="F8FAFC"/>
                    </a:solidFill>
                  </a:tcPr>
                </a:tc>
              </a:tr>
              <a:tr h="411480">
                <a:tc>
                  <a:txBody>
                    <a:bodyPr/>
                    <a:lstStyle/>
                    <a:p>
                      <a:pPr algn="l">
                        <a:defRPr sz="950">
                          <a:solidFill>
                            <a:srgbClr val="282D37"/>
                          </a:solidFill>
                        </a:defRPr>
                      </a:pPr>
                      <a:r>
                        <a:t>3. Dense (vietnamese-sbert)</a:t>
                      </a:r>
                    </a:p>
                  </a:txBody>
                  <a:tcPr anchor="ctr">
                    <a:solidFill>
                      <a:srgbClr val="FFFFFF"/>
                    </a:solidFill>
                  </a:tcPr>
                </a:tc>
                <a:tc>
                  <a:txBody>
                    <a:bodyPr/>
                    <a:lstStyle/>
                    <a:p>
                      <a:pPr algn="ctr">
                        <a:defRPr sz="950">
                          <a:solidFill>
                            <a:srgbClr val="282D37"/>
                          </a:solidFill>
                        </a:defRPr>
                      </a:pPr>
                      <a:r>
                        <a:t>86.54%</a:t>
                      </a:r>
                    </a:p>
                  </a:txBody>
                  <a:tcPr anchor="ctr">
                    <a:solidFill>
                      <a:srgbClr val="FFFFFF"/>
                    </a:solidFill>
                  </a:tcPr>
                </a:tc>
                <a:tc>
                  <a:txBody>
                    <a:bodyPr/>
                    <a:lstStyle/>
                    <a:p>
                      <a:pPr algn="ctr">
                        <a:defRPr sz="950">
                          <a:solidFill>
                            <a:srgbClr val="282D37"/>
                          </a:solidFill>
                        </a:defRPr>
                      </a:pPr>
                      <a:r>
                        <a:t>85.58%</a:t>
                      </a:r>
                    </a:p>
                  </a:txBody>
                  <a:tcPr anchor="ctr">
                    <a:solidFill>
                      <a:srgbClr val="FFFFFF"/>
                    </a:solidFill>
                  </a:tcPr>
                </a:tc>
                <a:tc>
                  <a:txBody>
                    <a:bodyPr/>
                    <a:lstStyle/>
                    <a:p>
                      <a:pPr algn="ctr">
                        <a:defRPr sz="950">
                          <a:solidFill>
                            <a:srgbClr val="282D37"/>
                          </a:solidFill>
                        </a:defRPr>
                      </a:pPr>
                      <a:r>
                        <a:t>0.8462</a:t>
                      </a:r>
                    </a:p>
                  </a:txBody>
                  <a:tcPr anchor="ctr">
                    <a:solidFill>
                      <a:srgbClr val="FFFFFF"/>
                    </a:solidFill>
                  </a:tcPr>
                </a:tc>
                <a:tc>
                  <a:txBody>
                    <a:bodyPr/>
                    <a:lstStyle/>
                    <a:p>
                      <a:pPr algn="ctr">
                        <a:defRPr sz="950">
                          <a:solidFill>
                            <a:srgbClr val="282D37"/>
                          </a:solidFill>
                        </a:defRPr>
                      </a:pPr>
                      <a:r>
                        <a:t>83.29 ms</a:t>
                      </a:r>
                    </a:p>
                  </a:txBody>
                  <a:tcPr anchor="ctr">
                    <a:solidFill>
                      <a:srgbClr val="FFFFFF"/>
                    </a:solidFill>
                  </a:tcPr>
                </a:tc>
                <a:tc>
                  <a:txBody>
                    <a:bodyPr/>
                    <a:lstStyle/>
                    <a:p>
                      <a:pPr algn="ctr">
                        <a:defRPr sz="950">
                          <a:solidFill>
                            <a:srgbClr val="282D37"/>
                          </a:solidFill>
                        </a:defRPr>
                      </a:pPr>
                      <a:r>
                        <a:t>127.92 ms</a:t>
                      </a:r>
                    </a:p>
                  </a:txBody>
                  <a:tcPr anchor="ctr">
                    <a:solidFill>
                      <a:srgbClr val="FFFFFF"/>
                    </a:solidFill>
                  </a:tcPr>
                </a:tc>
                <a:tc>
                  <a:txBody>
                    <a:bodyPr/>
                    <a:lstStyle/>
                    <a:p>
                      <a:pPr algn="ctr">
                        <a:defRPr sz="950">
                          <a:solidFill>
                            <a:srgbClr val="282D37"/>
                          </a:solidFill>
                        </a:defRPr>
                      </a:pPr>
                      <a:r>
                        <a:t>❌ VƯỢT</a:t>
                      </a:r>
                    </a:p>
                  </a:txBody>
                  <a:tcPr anchor="ctr">
                    <a:solidFill>
                      <a:srgbClr val="FFFFFF"/>
                    </a:solidFill>
                  </a:tcPr>
                </a:tc>
              </a:tr>
              <a:tr h="411480">
                <a:tc>
                  <a:txBody>
                    <a:bodyPr/>
                    <a:lstStyle/>
                    <a:p>
                      <a:pPr algn="l">
                        <a:defRPr sz="950">
                          <a:solidFill>
                            <a:srgbClr val="282D37"/>
                          </a:solidFill>
                        </a:defRPr>
                      </a:pPr>
                      <a:r>
                        <a:t>4. Hybrid RRF (BM25 + Dense)</a:t>
                      </a:r>
                    </a:p>
                  </a:txBody>
                  <a:tcPr anchor="ctr">
                    <a:solidFill>
                      <a:srgbClr val="F8FAFC"/>
                    </a:solidFill>
                  </a:tcPr>
                </a:tc>
                <a:tc>
                  <a:txBody>
                    <a:bodyPr/>
                    <a:lstStyle/>
                    <a:p>
                      <a:pPr algn="ctr">
                        <a:defRPr sz="950">
                          <a:solidFill>
                            <a:srgbClr val="282D37"/>
                          </a:solidFill>
                        </a:defRPr>
                      </a:pPr>
                      <a:r>
                        <a:t>96.15%</a:t>
                      </a:r>
                    </a:p>
                  </a:txBody>
                  <a:tcPr anchor="ctr">
                    <a:solidFill>
                      <a:srgbClr val="F8FAFC"/>
                    </a:solidFill>
                  </a:tcPr>
                </a:tc>
                <a:tc>
                  <a:txBody>
                    <a:bodyPr/>
                    <a:lstStyle/>
                    <a:p>
                      <a:pPr algn="ctr">
                        <a:defRPr sz="950">
                          <a:solidFill>
                            <a:srgbClr val="282D37"/>
                          </a:solidFill>
                        </a:defRPr>
                      </a:pPr>
                      <a:r>
                        <a:t>95.19%</a:t>
                      </a:r>
                    </a:p>
                  </a:txBody>
                  <a:tcPr anchor="ctr">
                    <a:solidFill>
                      <a:srgbClr val="F8FAFC"/>
                    </a:solidFill>
                  </a:tcPr>
                </a:tc>
                <a:tc>
                  <a:txBody>
                    <a:bodyPr/>
                    <a:lstStyle/>
                    <a:p>
                      <a:pPr algn="ctr">
                        <a:defRPr sz="950">
                          <a:solidFill>
                            <a:srgbClr val="282D37"/>
                          </a:solidFill>
                        </a:defRPr>
                      </a:pPr>
                      <a:r>
                        <a:t>0.9423</a:t>
                      </a:r>
                    </a:p>
                  </a:txBody>
                  <a:tcPr anchor="ctr">
                    <a:solidFill>
                      <a:srgbClr val="F8FAFC"/>
                    </a:solidFill>
                  </a:tcPr>
                </a:tc>
                <a:tc>
                  <a:txBody>
                    <a:bodyPr/>
                    <a:lstStyle/>
                    <a:p>
                      <a:pPr algn="ctr">
                        <a:defRPr sz="950">
                          <a:solidFill>
                            <a:srgbClr val="282D37"/>
                          </a:solidFill>
                        </a:defRPr>
                      </a:pPr>
                      <a:r>
                        <a:t>85.86 ms</a:t>
                      </a:r>
                    </a:p>
                  </a:txBody>
                  <a:tcPr anchor="ctr">
                    <a:solidFill>
                      <a:srgbClr val="F8FAFC"/>
                    </a:solidFill>
                  </a:tcPr>
                </a:tc>
                <a:tc>
                  <a:txBody>
                    <a:bodyPr/>
                    <a:lstStyle/>
                    <a:p>
                      <a:pPr algn="ctr">
                        <a:defRPr sz="950">
                          <a:solidFill>
                            <a:srgbClr val="282D37"/>
                          </a:solidFill>
                        </a:defRPr>
                      </a:pPr>
                      <a:r>
                        <a:t>114.71 ms</a:t>
                      </a:r>
                    </a:p>
                  </a:txBody>
                  <a:tcPr anchor="ctr">
                    <a:solidFill>
                      <a:srgbClr val="F8FAFC"/>
                    </a:solidFill>
                  </a:tcPr>
                </a:tc>
                <a:tc>
                  <a:txBody>
                    <a:bodyPr/>
                    <a:lstStyle/>
                    <a:p>
                      <a:pPr algn="ctr">
                        <a:defRPr sz="950">
                          <a:solidFill>
                            <a:srgbClr val="282D37"/>
                          </a:solidFill>
                        </a:defRPr>
                      </a:pPr>
                      <a:r>
                        <a:t>❌ VƯỢT</a:t>
                      </a:r>
                    </a:p>
                  </a:txBody>
                  <a:tcPr anchor="ctr">
                    <a:solidFill>
                      <a:srgbClr val="F8FAFC"/>
                    </a:solidFill>
                  </a:tcPr>
                </a:tc>
              </a:tr>
              <a:tr h="411480">
                <a:tc>
                  <a:txBody>
                    <a:bodyPr/>
                    <a:lstStyle/>
                    <a:p>
                      <a:pPr algn="l">
                        <a:defRPr sz="950">
                          <a:solidFill>
                            <a:srgbClr val="282D37"/>
                          </a:solidFill>
                        </a:defRPr>
                      </a:pPr>
                      <a:r>
                        <a:t>5. Cross-Encoder Reranked</a:t>
                      </a:r>
                    </a:p>
                  </a:txBody>
                  <a:tcPr anchor="ctr">
                    <a:solidFill>
                      <a:srgbClr val="FFFFFF"/>
                    </a:solidFill>
                  </a:tcPr>
                </a:tc>
                <a:tc>
                  <a:txBody>
                    <a:bodyPr/>
                    <a:lstStyle/>
                    <a:p>
                      <a:pPr algn="ctr">
                        <a:defRPr sz="950">
                          <a:solidFill>
                            <a:srgbClr val="282D37"/>
                          </a:solidFill>
                        </a:defRPr>
                      </a:pPr>
                      <a:r>
                        <a:t>98.08%</a:t>
                      </a:r>
                    </a:p>
                  </a:txBody>
                  <a:tcPr anchor="ctr">
                    <a:solidFill>
                      <a:srgbClr val="FFFFFF"/>
                    </a:solidFill>
                  </a:tcPr>
                </a:tc>
                <a:tc>
                  <a:txBody>
                    <a:bodyPr/>
                    <a:lstStyle/>
                    <a:p>
                      <a:pPr algn="ctr">
                        <a:defRPr sz="950">
                          <a:solidFill>
                            <a:srgbClr val="282D37"/>
                          </a:solidFill>
                        </a:defRPr>
                      </a:pPr>
                      <a:r>
                        <a:t>98.08%</a:t>
                      </a:r>
                    </a:p>
                  </a:txBody>
                  <a:tcPr anchor="ctr">
                    <a:solidFill>
                      <a:srgbClr val="FFFFFF"/>
                    </a:solidFill>
                  </a:tcPr>
                </a:tc>
                <a:tc>
                  <a:txBody>
                    <a:bodyPr/>
                    <a:lstStyle/>
                    <a:p>
                      <a:pPr algn="ctr">
                        <a:defRPr sz="950">
                          <a:solidFill>
                            <a:srgbClr val="282D37"/>
                          </a:solidFill>
                        </a:defRPr>
                      </a:pPr>
                      <a:r>
                        <a:t>0.9679</a:t>
                      </a:r>
                    </a:p>
                  </a:txBody>
                  <a:tcPr anchor="ctr">
                    <a:solidFill>
                      <a:srgbClr val="FFFFFF"/>
                    </a:solidFill>
                  </a:tcPr>
                </a:tc>
                <a:tc>
                  <a:txBody>
                    <a:bodyPr/>
                    <a:lstStyle/>
                    <a:p>
                      <a:pPr algn="ctr">
                        <a:defRPr sz="950">
                          <a:solidFill>
                            <a:srgbClr val="282D37"/>
                          </a:solidFill>
                        </a:defRPr>
                      </a:pPr>
                      <a:r>
                        <a:t>2,675 ms</a:t>
                      </a:r>
                    </a:p>
                  </a:txBody>
                  <a:tcPr anchor="ctr">
                    <a:solidFill>
                      <a:srgbClr val="FFFFFF"/>
                    </a:solidFill>
                  </a:tcPr>
                </a:tc>
                <a:tc>
                  <a:txBody>
                    <a:bodyPr/>
                    <a:lstStyle/>
                    <a:p>
                      <a:pPr algn="ctr">
                        <a:defRPr sz="950">
                          <a:solidFill>
                            <a:srgbClr val="282D37"/>
                          </a:solidFill>
                        </a:defRPr>
                      </a:pPr>
                      <a:r>
                        <a:t>3,773 ms</a:t>
                      </a:r>
                    </a:p>
                  </a:txBody>
                  <a:tcPr anchor="ctr">
                    <a:solidFill>
                      <a:srgbClr val="FFFFFF"/>
                    </a:solidFill>
                  </a:tcPr>
                </a:tc>
                <a:tc>
                  <a:txBody>
                    <a:bodyPr/>
                    <a:lstStyle/>
                    <a:p>
                      <a:pPr algn="ctr">
                        <a:defRPr sz="950">
                          <a:solidFill>
                            <a:srgbClr val="282D37"/>
                          </a:solidFill>
                        </a:defRPr>
                      </a:pPr>
                      <a:r>
                        <a:t>❌ VƯỢT</a:t>
                      </a:r>
                    </a:p>
                  </a:txBody>
                  <a:tcPr anchor="ctr">
                    <a:solidFill>
                      <a:srgbClr val="FFFFFF"/>
                    </a:solidFill>
                  </a:tcPr>
                </a:tc>
              </a:tr>
            </a:tbl>
          </a:graphicData>
        </a:graphic>
      </p:graphicFrame>
      <p:sp>
        <p:nvSpPr>
          <p:cNvPr id="5" name="Rounded Rectangle 4"/>
          <p:cNvSpPr/>
          <p:nvPr/>
        </p:nvSpPr>
        <p:spPr>
          <a:xfrm>
            <a:off x="731520" y="4114800"/>
            <a:ext cx="10698480" cy="219456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300" b="1">
                <a:solidFill>
                  <a:srgbClr val="107C41"/>
                </a:solidFill>
              </a:defRPr>
            </a:pPr>
            <a:r>
              <a:t>Bản chất Thực nghiệm &amp; Quyết định Kiến trúc</a:t>
            </a:r>
          </a:p>
          <a:p>
            <a:pPr>
              <a:spcAft>
                <a:spcPts val="300"/>
              </a:spcAft>
              <a:defRPr sz="1050">
                <a:solidFill>
                  <a:srgbClr val="282D37"/>
                </a:solidFill>
              </a:defRPr>
            </a:pPr>
            <a:r>
              <a:t>•  Tập dữ liệu đo: 50 điều khoản chính sách trong policies.json (47 active) và 55 câu hỏi kiểm thử tiếng Việt có gán nhãn chuẩn (retrieval_eval.json).</a:t>
            </a:r>
          </a:p>
          <a:p>
            <a:pPr>
              <a:spcAft>
                <a:spcPts val="300"/>
              </a:spcAft>
              <a:defRPr sz="1050">
                <a:solidFill>
                  <a:srgbClr val="282D37"/>
                </a:solidFill>
              </a:defRPr>
            </a:pPr>
            <a:r>
              <a:t>•  BM25Okapi được chọn làm mặc định cho Production: Đạt Hit Rate@3 = 100%, MRR@3 = 0.9808, độ trễ p95 chỉ 0.66 ms trên CPU (nhanh hơn Dense 193 lần và nhanh hơn Reranker 5,700 lần).</a:t>
            </a:r>
          </a:p>
          <a:p>
            <a:pPr>
              <a:spcAft>
                <a:spcPts val="300"/>
              </a:spcAft>
              <a:defRPr sz="1050">
                <a:solidFill>
                  <a:srgbClr val="282D37"/>
                </a:solidFill>
              </a:defRPr>
            </a:pPr>
            <a:r>
              <a:t>•  Cơ chế an toàn (Policy Guard): Tự động lọc bỏ các điều khoản hết hiệu lực (inactive), ép buộc trích dẫn mã [POL-xxx] vào câu trả lời để chống ảo giác (Hallucination).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a:spAutoFit/>
          </a:bodyPr>
          <a:lstStyle/>
          <a:p>
            <a:pPr>
              <a:defRPr sz="950" b="1">
                <a:solidFill>
                  <a:srgbClr val="2E75B6"/>
                </a:solidFill>
              </a:defRPr>
            </a:pPr>
            <a:r>
              <a:t>AI CUSTOMER SUPPORT COPILOT • MODULE 2 &amp; 3</a:t>
            </a:r>
          </a:p>
        </p:txBody>
      </p:sp>
      <p:sp>
        <p:nvSpPr>
          <p:cNvPr id="3" name="TextBox 2"/>
          <p:cNvSpPr txBox="1"/>
          <p:nvPr/>
        </p:nvSpPr>
        <p:spPr>
          <a:xfrm>
            <a:off x="731520" y="594360"/>
            <a:ext cx="10698480" cy="594360"/>
          </a:xfrm>
          <a:prstGeom prst="rect">
            <a:avLst/>
          </a:prstGeom>
          <a:noFill/>
        </p:spPr>
        <p:txBody>
          <a:bodyPr wrap="square">
            <a:spAutoFit/>
          </a:bodyPr>
          <a:lstStyle/>
          <a:p>
            <a:pPr>
              <a:defRPr sz="2100" b="1">
                <a:solidFill>
                  <a:srgbClr val="1F4E79"/>
                </a:solidFill>
              </a:defRPr>
            </a:pPr>
            <a:r>
              <a:t>Module 3: Bài toán Dữ liệu Động &amp; Bốn Trụ cột Kỹ thuật</a:t>
            </a:r>
          </a:p>
        </p:txBody>
      </p:sp>
      <p:sp>
        <p:nvSpPr>
          <p:cNvPr id="4" name="Rounded Rectangle 3"/>
          <p:cNvSpPr/>
          <p:nvPr/>
        </p:nvSpPr>
        <p:spPr>
          <a:xfrm>
            <a:off x="731520" y="1371600"/>
            <a:ext cx="5120640" cy="228600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300" b="1">
                <a:solidFill>
                  <a:srgbClr val="C00000"/>
                </a:solidFill>
              </a:defRPr>
            </a:pPr>
            <a:r>
              <a:t>Hai Nút thắt Cũ của Hệ thống (Baseline)</a:t>
            </a:r>
          </a:p>
          <a:p>
            <a:pPr>
              <a:spcAft>
                <a:spcPts val="300"/>
              </a:spcAft>
              <a:defRPr sz="1050">
                <a:solidFill>
                  <a:srgbClr val="282D37"/>
                </a:solidFill>
              </a:defRPr>
            </a:pPr>
            <a:r>
              <a:t>•  Nghẽn I/O Database: Mỗi tin nhắn đều phải mở file mock_orders.json và parse lại từ đầu ➔ Độ trễ p95 đạt 2.17 ms (vượt ngưỡng cho phép &lt; 2.0 ms).</a:t>
            </a:r>
          </a:p>
          <a:p>
            <a:pPr>
              <a:spcAft>
                <a:spcPts val="300"/>
              </a:spcAft>
              <a:defRPr sz="1050">
                <a:solidFill>
                  <a:srgbClr val="282D37"/>
                </a:solidFill>
              </a:defRPr>
            </a:pPr>
            <a:r>
              <a:t>•  Regex cứng bỏ sót thực thể: Chỉ bắt chữ in hoa ORD-xxxx, bỏ sót tiếng lóng '#1007', 'đơn 1005' (Recall = 62.9%), và bỏ sót 100% SĐT của khách (Recall = 0.0%).</a:t>
            </a:r>
          </a:p>
        </p:txBody>
      </p:sp>
      <p:sp>
        <p:nvSpPr>
          <p:cNvPr id="5" name="Rounded Rectangle 4"/>
          <p:cNvSpPr/>
          <p:nvPr/>
        </p:nvSpPr>
        <p:spPr>
          <a:xfrm>
            <a:off x="6217920" y="1371600"/>
            <a:ext cx="5120640" cy="228600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300" b="1">
                <a:solidFill>
                  <a:srgbClr val="1F4E79"/>
                </a:solidFill>
              </a:defRPr>
            </a:pPr>
            <a:r>
              <a:t>1. CSDL SQLite B-Tree Indexing</a:t>
            </a:r>
          </a:p>
          <a:p>
            <a:pPr>
              <a:spcAft>
                <a:spcPts val="300"/>
              </a:spcAft>
              <a:defRPr sz="1050">
                <a:solidFill>
                  <a:srgbClr val="282D37"/>
                </a:solidFill>
              </a:defRPr>
            </a:pPr>
            <a:r>
              <a:t>•  Chuyển 100 đơn hàng sang bảng orders (SQLite WAL Mode).</a:t>
            </a:r>
          </a:p>
          <a:p>
            <a:pPr>
              <a:spcAft>
                <a:spcPts val="300"/>
              </a:spcAft>
              <a:defRPr sz="1050">
                <a:solidFill>
                  <a:srgbClr val="282D37"/>
                </a:solidFill>
              </a:defRPr>
            </a:pPr>
            <a:r>
              <a:t>•  Đánh chỉ mục B-Tree trên: order_id, customer_id, phone, tracking_code, order_status.</a:t>
            </a:r>
          </a:p>
          <a:p>
            <a:pPr>
              <a:spcAft>
                <a:spcPts val="300"/>
              </a:spcAft>
              <a:defRPr sz="1050">
                <a:solidFill>
                  <a:srgbClr val="282D37"/>
                </a:solidFill>
              </a:defRPr>
            </a:pPr>
            <a:r>
              <a:t>•  Giảm độ phức tạp truy xuất từ O(N) xuống O(log N).</a:t>
            </a:r>
          </a:p>
        </p:txBody>
      </p:sp>
      <p:sp>
        <p:nvSpPr>
          <p:cNvPr id="6" name="Rounded Rectangle 5"/>
          <p:cNvSpPr/>
          <p:nvPr/>
        </p:nvSpPr>
        <p:spPr>
          <a:xfrm>
            <a:off x="731520" y="3931920"/>
            <a:ext cx="5120640" cy="237744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300" b="1">
                <a:solidFill>
                  <a:srgbClr val="1F4E79"/>
                </a:solidFill>
              </a:defRPr>
            </a:pPr>
            <a:r>
              <a:t>2. Caching Layer (OrderLRUCache)</a:t>
            </a:r>
          </a:p>
          <a:p>
            <a:pPr>
              <a:spcAft>
                <a:spcPts val="300"/>
              </a:spcAft>
              <a:defRPr sz="1050">
                <a:solidFill>
                  <a:srgbClr val="282D37"/>
                </a:solidFill>
              </a:defRPr>
            </a:pPr>
            <a:r>
              <a:t>•  Bộ nhớ đệm in-memory trên RAM dung lượng 256 mục.</a:t>
            </a:r>
          </a:p>
          <a:p>
            <a:pPr>
              <a:spcAft>
                <a:spcPts val="300"/>
              </a:spcAft>
              <a:defRPr sz="1050">
                <a:solidFill>
                  <a:srgbClr val="282D37"/>
                </a:solidFill>
              </a:defRPr>
            </a:pPr>
            <a:r>
              <a:t>•  Tra cứu O(1) qua 4 khóa: mã đơn, SĐT chuẩn hóa, customer_id, mã vận đơn.</a:t>
            </a:r>
          </a:p>
          <a:p>
            <a:pPr>
              <a:spcAft>
                <a:spcPts val="300"/>
              </a:spcAft>
              <a:defRPr sz="1050">
                <a:solidFill>
                  <a:srgbClr val="282D37"/>
                </a:solidFill>
              </a:defRPr>
            </a:pPr>
            <a:r>
              <a:t>•  Tự động xóa cache (Invalidation) khi đơn hàng bị hủy.</a:t>
            </a:r>
          </a:p>
        </p:txBody>
      </p:sp>
      <p:sp>
        <p:nvSpPr>
          <p:cNvPr id="7" name="Rounded Rectangle 6"/>
          <p:cNvSpPr/>
          <p:nvPr/>
        </p:nvSpPr>
        <p:spPr>
          <a:xfrm>
            <a:off x="6217920" y="3931920"/>
            <a:ext cx="5120640" cy="237744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300" b="1">
                <a:solidFill>
                  <a:srgbClr val="2E75B6"/>
                </a:solidFill>
              </a:defRPr>
            </a:pPr>
            <a:r>
              <a:t>3. Function Tools &amp; 4. ReAct Agent</a:t>
            </a:r>
          </a:p>
          <a:p>
            <a:pPr>
              <a:spcAft>
                <a:spcPts val="300"/>
              </a:spcAft>
              <a:defRPr sz="1050">
                <a:solidFill>
                  <a:srgbClr val="282D37"/>
                </a:solidFill>
              </a:defRPr>
            </a:pPr>
            <a:r>
              <a:t>•  4 Function Tools chuẩn JSON Schema: get_order_details, check_order_status, cancel_order, get_customer_orders.</a:t>
            </a:r>
          </a:p>
          <a:p>
            <a:pPr>
              <a:spcAft>
                <a:spcPts val="300"/>
              </a:spcAft>
              <a:defRPr sz="1050">
                <a:solidFill>
                  <a:srgbClr val="282D37"/>
                </a:solidFill>
              </a:defRPr>
            </a:pPr>
            <a:r>
              <a:t>•  ReAct Agent: Chuẩn hóa '#1007' ➔ 'ORD-1007', làm sạch SĐT, tự nhận diện ý định (Action Intent) để gọi đúng tool nghiệp vụ.</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a:spAutoFit/>
          </a:bodyPr>
          <a:lstStyle/>
          <a:p>
            <a:pPr>
              <a:defRPr sz="950" b="1">
                <a:solidFill>
                  <a:srgbClr val="2E75B6"/>
                </a:solidFill>
              </a:defRPr>
            </a:pPr>
            <a:r>
              <a:t>AI CUSTOMER SUPPORT COPILOT • MODULE 2 &amp; 3</a:t>
            </a:r>
          </a:p>
        </p:txBody>
      </p:sp>
      <p:sp>
        <p:nvSpPr>
          <p:cNvPr id="3" name="TextBox 2"/>
          <p:cNvSpPr txBox="1"/>
          <p:nvPr/>
        </p:nvSpPr>
        <p:spPr>
          <a:xfrm>
            <a:off x="731520" y="594360"/>
            <a:ext cx="10698480" cy="594360"/>
          </a:xfrm>
          <a:prstGeom prst="rect">
            <a:avLst/>
          </a:prstGeom>
          <a:noFill/>
        </p:spPr>
        <p:txBody>
          <a:bodyPr wrap="square">
            <a:spAutoFit/>
          </a:bodyPr>
          <a:lstStyle/>
          <a:p>
            <a:pPr>
              <a:defRPr sz="2100" b="1">
                <a:solidFill>
                  <a:srgbClr val="1F4E79"/>
                </a:solidFill>
              </a:defRPr>
            </a:pPr>
            <a:r>
              <a:t>Module 3: Kết quả Benchmark Đối sánh (Độ trễ &amp; Trích xuất Thực thể)</a:t>
            </a:r>
          </a:p>
        </p:txBody>
      </p:sp>
      <p:graphicFrame>
        <p:nvGraphicFramePr>
          <p:cNvPr id="4" name="Table 3"/>
          <p:cNvGraphicFramePr>
            <a:graphicFrameLocks noGrp="1"/>
          </p:cNvGraphicFramePr>
          <p:nvPr/>
        </p:nvGraphicFramePr>
        <p:xfrm>
          <a:off x="731520" y="1371600"/>
          <a:ext cx="10698480" cy="2011680"/>
        </p:xfrm>
        <a:graphic>
          <a:graphicData uri="http://schemas.openxmlformats.org/drawingml/2006/table">
            <a:tbl>
              <a:tblPr firstRow="1" bandRow="1">
                <a:tableStyleId>{5C22544A-7EE6-4342-B048-85BDC9FD1C3A}</a:tableStyleId>
              </a:tblPr>
              <a:tblGrid>
                <a:gridCol w="2377440"/>
                <a:gridCol w="1554480"/>
                <a:gridCol w="1463040"/>
                <a:gridCol w="1463040"/>
                <a:gridCol w="2011680"/>
                <a:gridCol w="1828800"/>
              </a:tblGrid>
              <a:tr h="402336">
                <a:tc>
                  <a:txBody>
                    <a:bodyPr/>
                    <a:lstStyle/>
                    <a:p>
                      <a:pPr algn="ctr">
                        <a:defRPr sz="1000" b="1">
                          <a:solidFill>
                            <a:srgbClr val="FFFFFF"/>
                          </a:solidFill>
                        </a:defRPr>
                      </a:pPr>
                      <a:r>
                        <a:t>Phương pháp Lưu trữ</a:t>
                      </a:r>
                    </a:p>
                  </a:txBody>
                  <a:tcPr anchor="ctr">
                    <a:solidFill>
                      <a:srgbClr val="1F4E79"/>
                    </a:solidFill>
                  </a:tcPr>
                </a:tc>
                <a:tc>
                  <a:txBody>
                    <a:bodyPr/>
                    <a:lstStyle/>
                    <a:p>
                      <a:pPr algn="ctr">
                        <a:defRPr sz="1000" b="1">
                          <a:solidFill>
                            <a:srgbClr val="FFFFFF"/>
                          </a:solidFill>
                        </a:defRPr>
                      </a:pPr>
                      <a:r>
                        <a:t>Độ phức tạp</a:t>
                      </a:r>
                    </a:p>
                  </a:txBody>
                  <a:tcPr anchor="ctr">
                    <a:solidFill>
                      <a:srgbClr val="1F4E79"/>
                    </a:solidFill>
                  </a:tcPr>
                </a:tc>
                <a:tc>
                  <a:txBody>
                    <a:bodyPr/>
                    <a:lstStyle/>
                    <a:p>
                      <a:pPr algn="ctr">
                        <a:defRPr sz="1000" b="1">
                          <a:solidFill>
                            <a:srgbClr val="FFFFFF"/>
                          </a:solidFill>
                        </a:defRPr>
                      </a:pPr>
                      <a:r>
                        <a:t>p50 (ms)</a:t>
                      </a:r>
                    </a:p>
                  </a:txBody>
                  <a:tcPr anchor="ctr">
                    <a:solidFill>
                      <a:srgbClr val="1F4E79"/>
                    </a:solidFill>
                  </a:tcPr>
                </a:tc>
                <a:tc>
                  <a:txBody>
                    <a:bodyPr/>
                    <a:lstStyle/>
                    <a:p>
                      <a:pPr algn="ctr">
                        <a:defRPr sz="1000" b="1">
                          <a:solidFill>
                            <a:srgbClr val="FFFFFF"/>
                          </a:solidFill>
                        </a:defRPr>
                      </a:pPr>
                      <a:r>
                        <a:t>p95 (ms)</a:t>
                      </a:r>
                    </a:p>
                  </a:txBody>
                  <a:tcPr anchor="ctr">
                    <a:solidFill>
                      <a:srgbClr val="1F4E79"/>
                    </a:solidFill>
                  </a:tcPr>
                </a:tc>
                <a:tc>
                  <a:txBody>
                    <a:bodyPr/>
                    <a:lstStyle/>
                    <a:p>
                      <a:pPr algn="ctr">
                        <a:defRPr sz="1000" b="1">
                          <a:solidFill>
                            <a:srgbClr val="FFFFFF"/>
                          </a:solidFill>
                        </a:defRPr>
                      </a:pPr>
                      <a:r>
                        <a:t>Thông lượng (QPS)</a:t>
                      </a:r>
                    </a:p>
                  </a:txBody>
                  <a:tcPr anchor="ctr">
                    <a:solidFill>
                      <a:srgbClr val="1F4E79"/>
                    </a:solidFill>
                  </a:tcPr>
                </a:tc>
                <a:tc>
                  <a:txBody>
                    <a:bodyPr/>
                    <a:lstStyle/>
                    <a:p>
                      <a:pPr algn="ctr">
                        <a:defRPr sz="1000" b="1">
                          <a:solidFill>
                            <a:srgbClr val="FFFFFF"/>
                          </a:solidFill>
                        </a:defRPr>
                      </a:pPr>
                      <a:r>
                        <a:t>Đạt &lt; 2ms?</a:t>
                      </a:r>
                    </a:p>
                  </a:txBody>
                  <a:tcPr anchor="ctr">
                    <a:solidFill>
                      <a:srgbClr val="1F4E79"/>
                    </a:solidFill>
                  </a:tcPr>
                </a:tc>
              </a:tr>
              <a:tr h="402336">
                <a:tc>
                  <a:txBody>
                    <a:bodyPr/>
                    <a:lstStyle/>
                    <a:p>
                      <a:pPr algn="l">
                        <a:defRPr sz="950">
                          <a:solidFill>
                            <a:srgbClr val="282D37"/>
                          </a:solidFill>
                        </a:defRPr>
                      </a:pPr>
                      <a:r>
                        <a:t>1. Baseline JSON Scan</a:t>
                      </a:r>
                    </a:p>
                  </a:txBody>
                  <a:tcPr anchor="ctr">
                    <a:solidFill>
                      <a:srgbClr val="FFFFFF"/>
                    </a:solidFill>
                  </a:tcPr>
                </a:tc>
                <a:tc>
                  <a:txBody>
                    <a:bodyPr/>
                    <a:lstStyle/>
                    <a:p>
                      <a:pPr algn="ctr">
                        <a:defRPr sz="950">
                          <a:solidFill>
                            <a:srgbClr val="282D37"/>
                          </a:solidFill>
                        </a:defRPr>
                      </a:pPr>
                      <a:r>
                        <a:t>O(N) Disk I/O</a:t>
                      </a:r>
                    </a:p>
                  </a:txBody>
                  <a:tcPr anchor="ctr">
                    <a:solidFill>
                      <a:srgbClr val="FFFFFF"/>
                    </a:solidFill>
                  </a:tcPr>
                </a:tc>
                <a:tc>
                  <a:txBody>
                    <a:bodyPr/>
                    <a:lstStyle/>
                    <a:p>
                      <a:pPr algn="ctr">
                        <a:defRPr sz="950">
                          <a:solidFill>
                            <a:srgbClr val="282D37"/>
                          </a:solidFill>
                        </a:defRPr>
                      </a:pPr>
                      <a:r>
                        <a:t>0.6916 ms</a:t>
                      </a:r>
                    </a:p>
                  </a:txBody>
                  <a:tcPr anchor="ctr">
                    <a:solidFill>
                      <a:srgbClr val="FFFFFF"/>
                    </a:solidFill>
                  </a:tcPr>
                </a:tc>
                <a:tc>
                  <a:txBody>
                    <a:bodyPr/>
                    <a:lstStyle/>
                    <a:p>
                      <a:pPr algn="ctr">
                        <a:defRPr sz="950">
                          <a:solidFill>
                            <a:srgbClr val="282D37"/>
                          </a:solidFill>
                        </a:defRPr>
                      </a:pPr>
                      <a:r>
                        <a:t>2.1654 ms</a:t>
                      </a:r>
                    </a:p>
                  </a:txBody>
                  <a:tcPr anchor="ctr">
                    <a:solidFill>
                      <a:srgbClr val="FFFFFF"/>
                    </a:solidFill>
                  </a:tcPr>
                </a:tc>
                <a:tc>
                  <a:txBody>
                    <a:bodyPr/>
                    <a:lstStyle/>
                    <a:p>
                      <a:pPr algn="ctr">
                        <a:defRPr sz="950">
                          <a:solidFill>
                            <a:srgbClr val="282D37"/>
                          </a:solidFill>
                        </a:defRPr>
                      </a:pPr>
                      <a:r>
                        <a:t>1,110 req/s</a:t>
                      </a:r>
                    </a:p>
                  </a:txBody>
                  <a:tcPr anchor="ctr">
                    <a:solidFill>
                      <a:srgbClr val="FFFFFF"/>
                    </a:solidFill>
                  </a:tcPr>
                </a:tc>
                <a:tc>
                  <a:txBody>
                    <a:bodyPr/>
                    <a:lstStyle/>
                    <a:p>
                      <a:pPr algn="ctr">
                        <a:defRPr sz="950">
                          <a:solidFill>
                            <a:srgbClr val="282D37"/>
                          </a:solidFill>
                        </a:defRPr>
                      </a:pPr>
                      <a:r>
                        <a:t>❌ VƯỢT</a:t>
                      </a:r>
                    </a:p>
                  </a:txBody>
                  <a:tcPr anchor="ctr">
                    <a:solidFill>
                      <a:srgbClr val="FFFFFF"/>
                    </a:solidFill>
                  </a:tcPr>
                </a:tc>
              </a:tr>
              <a:tr h="402336">
                <a:tc>
                  <a:txBody>
                    <a:bodyPr/>
                    <a:lstStyle/>
                    <a:p>
                      <a:pPr algn="l">
                        <a:defRPr sz="950">
                          <a:solidFill>
                            <a:srgbClr val="282D37"/>
                          </a:solidFill>
                        </a:defRPr>
                      </a:pPr>
                      <a:r>
                        <a:t>2. SQLite Unindexed</a:t>
                      </a:r>
                    </a:p>
                  </a:txBody>
                  <a:tcPr anchor="ctr">
                    <a:solidFill>
                      <a:srgbClr val="F8FAFC"/>
                    </a:solidFill>
                  </a:tcPr>
                </a:tc>
                <a:tc>
                  <a:txBody>
                    <a:bodyPr/>
                    <a:lstStyle/>
                    <a:p>
                      <a:pPr algn="ctr">
                        <a:defRPr sz="950">
                          <a:solidFill>
                            <a:srgbClr val="282D37"/>
                          </a:solidFill>
                        </a:defRPr>
                      </a:pPr>
                      <a:r>
                        <a:t>O(N) Table Scan</a:t>
                      </a:r>
                    </a:p>
                  </a:txBody>
                  <a:tcPr anchor="ctr">
                    <a:solidFill>
                      <a:srgbClr val="F8FAFC"/>
                    </a:solidFill>
                  </a:tcPr>
                </a:tc>
                <a:tc>
                  <a:txBody>
                    <a:bodyPr/>
                    <a:lstStyle/>
                    <a:p>
                      <a:pPr algn="ctr">
                        <a:defRPr sz="950">
                          <a:solidFill>
                            <a:srgbClr val="282D37"/>
                          </a:solidFill>
                        </a:defRPr>
                      </a:pPr>
                      <a:r>
                        <a:t>0.5712 ms</a:t>
                      </a:r>
                    </a:p>
                  </a:txBody>
                  <a:tcPr anchor="ctr">
                    <a:solidFill>
                      <a:srgbClr val="F8FAFC"/>
                    </a:solidFill>
                  </a:tcPr>
                </a:tc>
                <a:tc>
                  <a:txBody>
                    <a:bodyPr/>
                    <a:lstStyle/>
                    <a:p>
                      <a:pPr algn="ctr">
                        <a:defRPr sz="950">
                          <a:solidFill>
                            <a:srgbClr val="282D37"/>
                          </a:solidFill>
                        </a:defRPr>
                      </a:pPr>
                      <a:r>
                        <a:t>1.1105 ms</a:t>
                      </a:r>
                    </a:p>
                  </a:txBody>
                  <a:tcPr anchor="ctr">
                    <a:solidFill>
                      <a:srgbClr val="F8FAFC"/>
                    </a:solidFill>
                  </a:tcPr>
                </a:tc>
                <a:tc>
                  <a:txBody>
                    <a:bodyPr/>
                    <a:lstStyle/>
                    <a:p>
                      <a:pPr algn="ctr">
                        <a:defRPr sz="950">
                          <a:solidFill>
                            <a:srgbClr val="282D37"/>
                          </a:solidFill>
                        </a:defRPr>
                      </a:pPr>
                      <a:r>
                        <a:t>1,518 req/s</a:t>
                      </a:r>
                    </a:p>
                  </a:txBody>
                  <a:tcPr anchor="ctr">
                    <a:solidFill>
                      <a:srgbClr val="F8FAFC"/>
                    </a:solidFill>
                  </a:tcPr>
                </a:tc>
                <a:tc>
                  <a:txBody>
                    <a:bodyPr/>
                    <a:lstStyle/>
                    <a:p>
                      <a:pPr algn="ctr">
                        <a:defRPr sz="950">
                          <a:solidFill>
                            <a:srgbClr val="282D37"/>
                          </a:solidFill>
                        </a:defRPr>
                      </a:pPr>
                      <a:r>
                        <a:t>✅ ĐẠT</a:t>
                      </a:r>
                    </a:p>
                  </a:txBody>
                  <a:tcPr anchor="ctr">
                    <a:solidFill>
                      <a:srgbClr val="F8FAFC"/>
                    </a:solidFill>
                  </a:tcPr>
                </a:tc>
              </a:tr>
              <a:tr h="402336">
                <a:tc>
                  <a:txBody>
                    <a:bodyPr/>
                    <a:lstStyle/>
                    <a:p>
                      <a:pPr algn="l">
                        <a:defRPr sz="950">
                          <a:solidFill>
                            <a:srgbClr val="282D37"/>
                          </a:solidFill>
                        </a:defRPr>
                      </a:pPr>
                      <a:r>
                        <a:t>3. SQLite Indexed</a:t>
                      </a:r>
                    </a:p>
                  </a:txBody>
                  <a:tcPr anchor="ctr">
                    <a:solidFill>
                      <a:srgbClr val="FFFFFF"/>
                    </a:solidFill>
                  </a:tcPr>
                </a:tc>
                <a:tc>
                  <a:txBody>
                    <a:bodyPr/>
                    <a:lstStyle/>
                    <a:p>
                      <a:pPr algn="ctr">
                        <a:defRPr sz="950">
                          <a:solidFill>
                            <a:srgbClr val="282D37"/>
                          </a:solidFill>
                        </a:defRPr>
                      </a:pPr>
                      <a:r>
                        <a:t>O(log N) B-Tree</a:t>
                      </a:r>
                    </a:p>
                  </a:txBody>
                  <a:tcPr anchor="ctr">
                    <a:solidFill>
                      <a:srgbClr val="FFFFFF"/>
                    </a:solidFill>
                  </a:tcPr>
                </a:tc>
                <a:tc>
                  <a:txBody>
                    <a:bodyPr/>
                    <a:lstStyle/>
                    <a:p>
                      <a:pPr algn="ctr">
                        <a:defRPr sz="950">
                          <a:solidFill>
                            <a:srgbClr val="282D37"/>
                          </a:solidFill>
                        </a:defRPr>
                      </a:pPr>
                      <a:r>
                        <a:t>0.5236 ms</a:t>
                      </a:r>
                    </a:p>
                  </a:txBody>
                  <a:tcPr anchor="ctr">
                    <a:solidFill>
                      <a:srgbClr val="FFFFFF"/>
                    </a:solidFill>
                  </a:tcPr>
                </a:tc>
                <a:tc>
                  <a:txBody>
                    <a:bodyPr/>
                    <a:lstStyle/>
                    <a:p>
                      <a:pPr algn="ctr">
                        <a:defRPr sz="950">
                          <a:solidFill>
                            <a:srgbClr val="282D37"/>
                          </a:solidFill>
                        </a:defRPr>
                      </a:pPr>
                      <a:r>
                        <a:t>0.8473 ms</a:t>
                      </a:r>
                    </a:p>
                  </a:txBody>
                  <a:tcPr anchor="ctr">
                    <a:solidFill>
                      <a:srgbClr val="FFFFFF"/>
                    </a:solidFill>
                  </a:tcPr>
                </a:tc>
                <a:tc>
                  <a:txBody>
                    <a:bodyPr/>
                    <a:lstStyle/>
                    <a:p>
                      <a:pPr algn="ctr">
                        <a:defRPr sz="950">
                          <a:solidFill>
                            <a:srgbClr val="282D37"/>
                          </a:solidFill>
                        </a:defRPr>
                      </a:pPr>
                      <a:r>
                        <a:t>1,738 req/s</a:t>
                      </a:r>
                    </a:p>
                  </a:txBody>
                  <a:tcPr anchor="ctr">
                    <a:solidFill>
                      <a:srgbClr val="FFFFFF"/>
                    </a:solidFill>
                  </a:tcPr>
                </a:tc>
                <a:tc>
                  <a:txBody>
                    <a:bodyPr/>
                    <a:lstStyle/>
                    <a:p>
                      <a:pPr algn="ctr">
                        <a:defRPr sz="950">
                          <a:solidFill>
                            <a:srgbClr val="282D37"/>
                          </a:solidFill>
                        </a:defRPr>
                      </a:pPr>
                      <a:r>
                        <a:t>✅ ĐẠT</a:t>
                      </a:r>
                    </a:p>
                  </a:txBody>
                  <a:tcPr anchor="ctr">
                    <a:solidFill>
                      <a:srgbClr val="FFFFFF"/>
                    </a:solidFill>
                  </a:tcPr>
                </a:tc>
              </a:tr>
              <a:tr h="402336">
                <a:tc>
                  <a:txBody>
                    <a:bodyPr/>
                    <a:lstStyle/>
                    <a:p>
                      <a:pPr algn="l">
                        <a:defRPr sz="950">
                          <a:solidFill>
                            <a:srgbClr val="282D37"/>
                          </a:solidFill>
                        </a:defRPr>
                      </a:pPr>
                      <a:r>
                        <a:t>4. SQLite + LRU Cache</a:t>
                      </a:r>
                    </a:p>
                  </a:txBody>
                  <a:tcPr anchor="ctr">
                    <a:solidFill>
                      <a:srgbClr val="F8FAFC"/>
                    </a:solidFill>
                  </a:tcPr>
                </a:tc>
                <a:tc>
                  <a:txBody>
                    <a:bodyPr/>
                    <a:lstStyle/>
                    <a:p>
                      <a:pPr algn="ctr">
                        <a:defRPr sz="950">
                          <a:solidFill>
                            <a:srgbClr val="282D37"/>
                          </a:solidFill>
                        </a:defRPr>
                      </a:pPr>
                      <a:r>
                        <a:t>O(1) In-Memory</a:t>
                      </a:r>
                    </a:p>
                  </a:txBody>
                  <a:tcPr anchor="ctr">
                    <a:solidFill>
                      <a:srgbClr val="F8FAFC"/>
                    </a:solidFill>
                  </a:tcPr>
                </a:tc>
                <a:tc>
                  <a:txBody>
                    <a:bodyPr/>
                    <a:lstStyle/>
                    <a:p>
                      <a:pPr algn="ctr">
                        <a:defRPr sz="950">
                          <a:solidFill>
                            <a:srgbClr val="282D37"/>
                          </a:solidFill>
                        </a:defRPr>
                      </a:pPr>
                      <a:r>
                        <a:t>0.0176 ms</a:t>
                      </a:r>
                    </a:p>
                  </a:txBody>
                  <a:tcPr anchor="ctr">
                    <a:solidFill>
                      <a:srgbClr val="F8FAFC"/>
                    </a:solidFill>
                  </a:tcPr>
                </a:tc>
                <a:tc>
                  <a:txBody>
                    <a:bodyPr/>
                    <a:lstStyle/>
                    <a:p>
                      <a:pPr algn="ctr">
                        <a:defRPr sz="950">
                          <a:solidFill>
                            <a:srgbClr val="282D37"/>
                          </a:solidFill>
                        </a:defRPr>
                      </a:pPr>
                      <a:r>
                        <a:t>0.5499 ms</a:t>
                      </a:r>
                    </a:p>
                  </a:txBody>
                  <a:tcPr anchor="ctr">
                    <a:solidFill>
                      <a:srgbClr val="F8FAFC"/>
                    </a:solidFill>
                  </a:tcPr>
                </a:tc>
                <a:tc>
                  <a:txBody>
                    <a:bodyPr/>
                    <a:lstStyle/>
                    <a:p>
                      <a:pPr algn="ctr">
                        <a:defRPr sz="950">
                          <a:solidFill>
                            <a:srgbClr val="282D37"/>
                          </a:solidFill>
                        </a:defRPr>
                      </a:pPr>
                      <a:r>
                        <a:t>11,532 req/s</a:t>
                      </a:r>
                    </a:p>
                  </a:txBody>
                  <a:tcPr anchor="ctr">
                    <a:solidFill>
                      <a:srgbClr val="F8FAFC"/>
                    </a:solidFill>
                  </a:tcPr>
                </a:tc>
                <a:tc>
                  <a:txBody>
                    <a:bodyPr/>
                    <a:lstStyle/>
                    <a:p>
                      <a:pPr algn="ctr">
                        <a:defRPr sz="950">
                          <a:solidFill>
                            <a:srgbClr val="282D37"/>
                          </a:solidFill>
                        </a:defRPr>
                      </a:pPr>
                      <a:r>
                        <a:t>✅ XUẤT SẮC</a:t>
                      </a:r>
                    </a:p>
                  </a:txBody>
                  <a:tcPr anchor="ctr">
                    <a:solidFill>
                      <a:srgbClr val="F8FAFC"/>
                    </a:solidFill>
                  </a:tcPr>
                </a:tc>
              </a:tr>
            </a:tbl>
          </a:graphicData>
        </a:graphic>
      </p:graphicFrame>
      <p:graphicFrame>
        <p:nvGraphicFramePr>
          <p:cNvPr id="5" name="Table 4"/>
          <p:cNvGraphicFramePr>
            <a:graphicFrameLocks noGrp="1"/>
          </p:cNvGraphicFramePr>
          <p:nvPr/>
        </p:nvGraphicFramePr>
        <p:xfrm>
          <a:off x="731520" y="3840480"/>
          <a:ext cx="10698480" cy="2468880"/>
        </p:xfrm>
        <a:graphic>
          <a:graphicData uri="http://schemas.openxmlformats.org/drawingml/2006/table">
            <a:tbl>
              <a:tblPr firstRow="1" bandRow="1">
                <a:tableStyleId>{5C22544A-7EE6-4342-B048-85BDC9FD1C3A}</a:tableStyleId>
              </a:tblPr>
              <a:tblGrid>
                <a:gridCol w="2377440"/>
                <a:gridCol w="1280160"/>
                <a:gridCol w="1280160"/>
                <a:gridCol w="1371600"/>
                <a:gridCol w="4389120"/>
              </a:tblGrid>
              <a:tr h="411480">
                <a:tc>
                  <a:txBody>
                    <a:bodyPr/>
                    <a:lstStyle/>
                    <a:p>
                      <a:pPr algn="ctr">
                        <a:defRPr sz="1000" b="1">
                          <a:solidFill>
                            <a:srgbClr val="FFFFFF"/>
                          </a:solidFill>
                        </a:defRPr>
                      </a:pPr>
                      <a:r>
                        <a:t>Thành phần &amp; Thuật toán</a:t>
                      </a:r>
                    </a:p>
                  </a:txBody>
                  <a:tcPr anchor="ctr">
                    <a:solidFill>
                      <a:srgbClr val="1B365D"/>
                    </a:solidFill>
                  </a:tcPr>
                </a:tc>
                <a:tc>
                  <a:txBody>
                    <a:bodyPr/>
                    <a:lstStyle/>
                    <a:p>
                      <a:pPr algn="ctr">
                        <a:defRPr sz="1000" b="1">
                          <a:solidFill>
                            <a:srgbClr val="FFFFFF"/>
                          </a:solidFill>
                        </a:defRPr>
                      </a:pPr>
                      <a:r>
                        <a:t>Precision</a:t>
                      </a:r>
                    </a:p>
                  </a:txBody>
                  <a:tcPr anchor="ctr">
                    <a:solidFill>
                      <a:srgbClr val="1B365D"/>
                    </a:solidFill>
                  </a:tcPr>
                </a:tc>
                <a:tc>
                  <a:txBody>
                    <a:bodyPr/>
                    <a:lstStyle/>
                    <a:p>
                      <a:pPr algn="ctr">
                        <a:defRPr sz="1000" b="1">
                          <a:solidFill>
                            <a:srgbClr val="FFFFFF"/>
                          </a:solidFill>
                        </a:defRPr>
                      </a:pPr>
                      <a:r>
                        <a:t>Recall</a:t>
                      </a:r>
                    </a:p>
                  </a:txBody>
                  <a:tcPr anchor="ctr">
                    <a:solidFill>
                      <a:srgbClr val="1B365D"/>
                    </a:solidFill>
                  </a:tcPr>
                </a:tc>
                <a:tc>
                  <a:txBody>
                    <a:bodyPr/>
                    <a:lstStyle/>
                    <a:p>
                      <a:pPr algn="ctr">
                        <a:defRPr sz="1000" b="1">
                          <a:solidFill>
                            <a:srgbClr val="FFFFFF"/>
                          </a:solidFill>
                        </a:defRPr>
                      </a:pPr>
                      <a:r>
                        <a:t>F1-Score</a:t>
                      </a:r>
                    </a:p>
                  </a:txBody>
                  <a:tcPr anchor="ctr">
                    <a:solidFill>
                      <a:srgbClr val="1B365D"/>
                    </a:solidFill>
                  </a:tcPr>
                </a:tc>
                <a:tc>
                  <a:txBody>
                    <a:bodyPr/>
                    <a:lstStyle/>
                    <a:p>
                      <a:pPr algn="ctr">
                        <a:defRPr sz="1000" b="1">
                          <a:solidFill>
                            <a:srgbClr val="FFFFFF"/>
                          </a:solidFill>
                        </a:defRPr>
                      </a:pPr>
                      <a:r>
                        <a:t>Ghi chú &amp; Ý nghĩa Nghiệp vụ</a:t>
                      </a:r>
                    </a:p>
                  </a:txBody>
                  <a:tcPr anchor="ctr">
                    <a:solidFill>
                      <a:srgbClr val="1B365D"/>
                    </a:solidFill>
                  </a:tcPr>
                </a:tc>
              </a:tr>
              <a:tr h="411480">
                <a:tc>
                  <a:txBody>
                    <a:bodyPr/>
                    <a:lstStyle/>
                    <a:p>
                      <a:pPr algn="l">
                        <a:defRPr sz="950">
                          <a:solidFill>
                            <a:srgbClr val="282D37"/>
                          </a:solidFill>
                        </a:defRPr>
                      </a:pPr>
                      <a:r>
                        <a:t>Baseline Regex (Mã đơn hàng)</a:t>
                      </a:r>
                    </a:p>
                  </a:txBody>
                  <a:tcPr anchor="ctr">
                    <a:solidFill>
                      <a:srgbClr val="FFFFFF"/>
                    </a:solidFill>
                  </a:tcPr>
                </a:tc>
                <a:tc>
                  <a:txBody>
                    <a:bodyPr/>
                    <a:lstStyle/>
                    <a:p>
                      <a:pPr algn="ctr">
                        <a:defRPr sz="950">
                          <a:solidFill>
                            <a:srgbClr val="282D37"/>
                          </a:solidFill>
                        </a:defRPr>
                      </a:pPr>
                      <a:r>
                        <a:t>100.00%</a:t>
                      </a:r>
                    </a:p>
                  </a:txBody>
                  <a:tcPr anchor="ctr">
                    <a:solidFill>
                      <a:srgbClr val="FFFFFF"/>
                    </a:solidFill>
                  </a:tcPr>
                </a:tc>
                <a:tc>
                  <a:txBody>
                    <a:bodyPr/>
                    <a:lstStyle/>
                    <a:p>
                      <a:pPr algn="ctr">
                        <a:defRPr sz="950">
                          <a:solidFill>
                            <a:srgbClr val="282D37"/>
                          </a:solidFill>
                        </a:defRPr>
                      </a:pPr>
                      <a:r>
                        <a:t>62.96%</a:t>
                      </a:r>
                    </a:p>
                  </a:txBody>
                  <a:tcPr anchor="ctr">
                    <a:solidFill>
                      <a:srgbClr val="FFFFFF"/>
                    </a:solidFill>
                  </a:tcPr>
                </a:tc>
                <a:tc>
                  <a:txBody>
                    <a:bodyPr/>
                    <a:lstStyle/>
                    <a:p>
                      <a:pPr algn="ctr">
                        <a:defRPr sz="950">
                          <a:solidFill>
                            <a:srgbClr val="282D37"/>
                          </a:solidFill>
                        </a:defRPr>
                      </a:pPr>
                      <a:r>
                        <a:t>77.27%</a:t>
                      </a:r>
                    </a:p>
                  </a:txBody>
                  <a:tcPr anchor="ctr">
                    <a:solidFill>
                      <a:srgbClr val="FFFFFF"/>
                    </a:solidFill>
                  </a:tcPr>
                </a:tc>
                <a:tc>
                  <a:txBody>
                    <a:bodyPr/>
                    <a:lstStyle/>
                    <a:p>
                      <a:pPr algn="ctr">
                        <a:defRPr sz="950">
                          <a:solidFill>
                            <a:srgbClr val="282D37"/>
                          </a:solidFill>
                        </a:defRPr>
                      </a:pPr>
                      <a:r>
                        <a:t>Bỏ sót 37% mã viết tắt, '#1007', 'đơn 1005'</a:t>
                      </a:r>
                    </a:p>
                  </a:txBody>
                  <a:tcPr anchor="ctr">
                    <a:solidFill>
                      <a:srgbClr val="FFFFFF"/>
                    </a:solidFill>
                  </a:tcPr>
                </a:tc>
              </a:tr>
              <a:tr h="411480">
                <a:tc>
                  <a:txBody>
                    <a:bodyPr/>
                    <a:lstStyle/>
                    <a:p>
                      <a:pPr algn="l">
                        <a:defRPr sz="950">
                          <a:solidFill>
                            <a:srgbClr val="282D37"/>
                          </a:solidFill>
                        </a:defRPr>
                      </a:pPr>
                      <a:r>
                        <a:t>Advanced ReAct (Mã đơn hàng)</a:t>
                      </a:r>
                    </a:p>
                  </a:txBody>
                  <a:tcPr anchor="ctr">
                    <a:solidFill>
                      <a:srgbClr val="F8FAFC"/>
                    </a:solidFill>
                  </a:tcPr>
                </a:tc>
                <a:tc>
                  <a:txBody>
                    <a:bodyPr/>
                    <a:lstStyle/>
                    <a:p>
                      <a:pPr algn="ctr">
                        <a:defRPr sz="950">
                          <a:solidFill>
                            <a:srgbClr val="282D37"/>
                          </a:solidFill>
                        </a:defRPr>
                      </a:pPr>
                      <a:r>
                        <a:t>100.00%</a:t>
                      </a:r>
                    </a:p>
                  </a:txBody>
                  <a:tcPr anchor="ctr">
                    <a:solidFill>
                      <a:srgbClr val="F8FAFC"/>
                    </a:solidFill>
                  </a:tcPr>
                </a:tc>
                <a:tc>
                  <a:txBody>
                    <a:bodyPr/>
                    <a:lstStyle/>
                    <a:p>
                      <a:pPr algn="ctr">
                        <a:defRPr sz="950">
                          <a:solidFill>
                            <a:srgbClr val="282D37"/>
                          </a:solidFill>
                        </a:defRPr>
                      </a:pPr>
                      <a:r>
                        <a:t>100.00%</a:t>
                      </a:r>
                    </a:p>
                  </a:txBody>
                  <a:tcPr anchor="ctr">
                    <a:solidFill>
                      <a:srgbClr val="F8FAFC"/>
                    </a:solidFill>
                  </a:tcPr>
                </a:tc>
                <a:tc>
                  <a:txBody>
                    <a:bodyPr/>
                    <a:lstStyle/>
                    <a:p>
                      <a:pPr algn="ctr">
                        <a:defRPr sz="950">
                          <a:solidFill>
                            <a:srgbClr val="282D37"/>
                          </a:solidFill>
                        </a:defRPr>
                      </a:pPr>
                      <a:r>
                        <a:t>100.00%</a:t>
                      </a:r>
                    </a:p>
                  </a:txBody>
                  <a:tcPr anchor="ctr">
                    <a:solidFill>
                      <a:srgbClr val="F8FAFC"/>
                    </a:solidFill>
                  </a:tcPr>
                </a:tc>
                <a:tc>
                  <a:txBody>
                    <a:bodyPr/>
                    <a:lstStyle/>
                    <a:p>
                      <a:pPr algn="ctr">
                        <a:defRPr sz="950">
                          <a:solidFill>
                            <a:srgbClr val="282D37"/>
                          </a:solidFill>
                        </a:defRPr>
                      </a:pPr>
                      <a:r>
                        <a:t>Bắt trúng 100% mọi biến thể cú pháp tự nhiên</a:t>
                      </a:r>
                    </a:p>
                  </a:txBody>
                  <a:tcPr anchor="ctr">
                    <a:solidFill>
                      <a:srgbClr val="F8FAFC"/>
                    </a:solidFill>
                  </a:tcPr>
                </a:tc>
              </a:tr>
              <a:tr h="411480">
                <a:tc>
                  <a:txBody>
                    <a:bodyPr/>
                    <a:lstStyle/>
                    <a:p>
                      <a:pPr algn="l">
                        <a:defRPr sz="950">
                          <a:solidFill>
                            <a:srgbClr val="282D37"/>
                          </a:solidFill>
                        </a:defRPr>
                      </a:pPr>
                      <a:r>
                        <a:t>Baseline Regex (Số điện thoại)</a:t>
                      </a:r>
                    </a:p>
                  </a:txBody>
                  <a:tcPr anchor="ctr">
                    <a:solidFill>
                      <a:srgbClr val="FFFFFF"/>
                    </a:solidFill>
                  </a:tcPr>
                </a:tc>
                <a:tc>
                  <a:txBody>
                    <a:bodyPr/>
                    <a:lstStyle/>
                    <a:p>
                      <a:pPr algn="ctr">
                        <a:defRPr sz="950">
                          <a:solidFill>
                            <a:srgbClr val="282D37"/>
                          </a:solidFill>
                        </a:defRPr>
                      </a:pPr>
                      <a:r>
                        <a:t>0.00%</a:t>
                      </a:r>
                    </a:p>
                  </a:txBody>
                  <a:tcPr anchor="ctr">
                    <a:solidFill>
                      <a:srgbClr val="FFFFFF"/>
                    </a:solidFill>
                  </a:tcPr>
                </a:tc>
                <a:tc>
                  <a:txBody>
                    <a:bodyPr/>
                    <a:lstStyle/>
                    <a:p>
                      <a:pPr algn="ctr">
                        <a:defRPr sz="950">
                          <a:solidFill>
                            <a:srgbClr val="282D37"/>
                          </a:solidFill>
                        </a:defRPr>
                      </a:pPr>
                      <a:r>
                        <a:t>0.00%</a:t>
                      </a:r>
                    </a:p>
                  </a:txBody>
                  <a:tcPr anchor="ctr">
                    <a:solidFill>
                      <a:srgbClr val="FFFFFF"/>
                    </a:solidFill>
                  </a:tcPr>
                </a:tc>
                <a:tc>
                  <a:txBody>
                    <a:bodyPr/>
                    <a:lstStyle/>
                    <a:p>
                      <a:pPr algn="ctr">
                        <a:defRPr sz="950">
                          <a:solidFill>
                            <a:srgbClr val="282D37"/>
                          </a:solidFill>
                        </a:defRPr>
                      </a:pPr>
                      <a:r>
                        <a:t>0.00%</a:t>
                      </a:r>
                    </a:p>
                  </a:txBody>
                  <a:tcPr anchor="ctr">
                    <a:solidFill>
                      <a:srgbClr val="FFFFFF"/>
                    </a:solidFill>
                  </a:tcPr>
                </a:tc>
                <a:tc>
                  <a:txBody>
                    <a:bodyPr/>
                    <a:lstStyle/>
                    <a:p>
                      <a:pPr algn="ctr">
                        <a:defRPr sz="950">
                          <a:solidFill>
                            <a:srgbClr val="282D37"/>
                          </a:solidFill>
                        </a:defRPr>
                      </a:pPr>
                      <a:r>
                        <a:t>Hoàn toàn không hỗ trợ nhận diện SĐT</a:t>
                      </a:r>
                    </a:p>
                  </a:txBody>
                  <a:tcPr anchor="ctr">
                    <a:solidFill>
                      <a:srgbClr val="FFFFFF"/>
                    </a:solidFill>
                  </a:tcPr>
                </a:tc>
              </a:tr>
              <a:tr h="411480">
                <a:tc>
                  <a:txBody>
                    <a:bodyPr/>
                    <a:lstStyle/>
                    <a:p>
                      <a:pPr algn="l">
                        <a:defRPr sz="950">
                          <a:solidFill>
                            <a:srgbClr val="282D37"/>
                          </a:solidFill>
                        </a:defRPr>
                      </a:pPr>
                      <a:r>
                        <a:t>Advanced ReAct (Số điện thoại)</a:t>
                      </a:r>
                    </a:p>
                  </a:txBody>
                  <a:tcPr anchor="ctr">
                    <a:solidFill>
                      <a:srgbClr val="F8FAFC"/>
                    </a:solidFill>
                  </a:tcPr>
                </a:tc>
                <a:tc>
                  <a:txBody>
                    <a:bodyPr/>
                    <a:lstStyle/>
                    <a:p>
                      <a:pPr algn="ctr">
                        <a:defRPr sz="950">
                          <a:solidFill>
                            <a:srgbClr val="282D37"/>
                          </a:solidFill>
                        </a:defRPr>
                      </a:pPr>
                      <a:r>
                        <a:t>100.00%</a:t>
                      </a:r>
                    </a:p>
                  </a:txBody>
                  <a:tcPr anchor="ctr">
                    <a:solidFill>
                      <a:srgbClr val="F8FAFC"/>
                    </a:solidFill>
                  </a:tcPr>
                </a:tc>
                <a:tc>
                  <a:txBody>
                    <a:bodyPr/>
                    <a:lstStyle/>
                    <a:p>
                      <a:pPr algn="ctr">
                        <a:defRPr sz="950">
                          <a:solidFill>
                            <a:srgbClr val="282D37"/>
                          </a:solidFill>
                        </a:defRPr>
                      </a:pPr>
                      <a:r>
                        <a:t>100.00%</a:t>
                      </a:r>
                    </a:p>
                  </a:txBody>
                  <a:tcPr anchor="ctr">
                    <a:solidFill>
                      <a:srgbClr val="F8FAFC"/>
                    </a:solidFill>
                  </a:tcPr>
                </a:tc>
                <a:tc>
                  <a:txBody>
                    <a:bodyPr/>
                    <a:lstStyle/>
                    <a:p>
                      <a:pPr algn="ctr">
                        <a:defRPr sz="950">
                          <a:solidFill>
                            <a:srgbClr val="282D37"/>
                          </a:solidFill>
                        </a:defRPr>
                      </a:pPr>
                      <a:r>
                        <a:t>100.00%</a:t>
                      </a:r>
                    </a:p>
                  </a:txBody>
                  <a:tcPr anchor="ctr">
                    <a:solidFill>
                      <a:srgbClr val="F8FAFC"/>
                    </a:solidFill>
                  </a:tcPr>
                </a:tc>
                <a:tc>
                  <a:txBody>
                    <a:bodyPr/>
                    <a:lstStyle/>
                    <a:p>
                      <a:pPr algn="ctr">
                        <a:defRPr sz="950">
                          <a:solidFill>
                            <a:srgbClr val="282D37"/>
                          </a:solidFill>
                        </a:defRPr>
                      </a:pPr>
                      <a:r>
                        <a:t>Bóc tách chính xác các định dạng 0938..., +84...</a:t>
                      </a:r>
                    </a:p>
                  </a:txBody>
                  <a:tcPr anchor="ctr">
                    <a:solidFill>
                      <a:srgbClr val="F8FAFC"/>
                    </a:solidFill>
                  </a:tcPr>
                </a:tc>
              </a:tr>
              <a:tr h="411480">
                <a:tc>
                  <a:txBody>
                    <a:bodyPr/>
                    <a:lstStyle/>
                    <a:p>
                      <a:pPr algn="l">
                        <a:defRPr sz="950">
                          <a:solidFill>
                            <a:srgbClr val="282D37"/>
                          </a:solidFill>
                        </a:defRPr>
                      </a:pPr>
                      <a:r>
                        <a:t>Độ chính xác Action Intent</a:t>
                      </a:r>
                    </a:p>
                  </a:txBody>
                  <a:tcPr anchor="ctr">
                    <a:solidFill>
                      <a:srgbClr val="FFFFFF"/>
                    </a:solidFill>
                  </a:tcPr>
                </a:tc>
                <a:tc>
                  <a:txBody>
                    <a:bodyPr/>
                    <a:lstStyle/>
                    <a:p>
                      <a:pPr algn="ctr">
                        <a:defRPr sz="950">
                          <a:solidFill>
                            <a:srgbClr val="282D37"/>
                          </a:solidFill>
                        </a:defRPr>
                      </a:pPr>
                      <a:r>
                        <a:t>—</a:t>
                      </a:r>
                    </a:p>
                  </a:txBody>
                  <a:tcPr anchor="ctr">
                    <a:solidFill>
                      <a:srgbClr val="FFFFFF"/>
                    </a:solidFill>
                  </a:tcPr>
                </a:tc>
                <a:tc>
                  <a:txBody>
                    <a:bodyPr/>
                    <a:lstStyle/>
                    <a:p>
                      <a:pPr algn="ctr">
                        <a:defRPr sz="950">
                          <a:solidFill>
                            <a:srgbClr val="282D37"/>
                          </a:solidFill>
                        </a:defRPr>
                      </a:pPr>
                      <a:r>
                        <a:t>—</a:t>
                      </a:r>
                    </a:p>
                  </a:txBody>
                  <a:tcPr anchor="ctr">
                    <a:solidFill>
                      <a:srgbClr val="FFFFFF"/>
                    </a:solidFill>
                  </a:tcPr>
                </a:tc>
                <a:tc>
                  <a:txBody>
                    <a:bodyPr/>
                    <a:lstStyle/>
                    <a:p>
                      <a:pPr algn="ctr">
                        <a:defRPr sz="950">
                          <a:solidFill>
                            <a:srgbClr val="282D37"/>
                          </a:solidFill>
                        </a:defRPr>
                      </a:pPr>
                      <a:r>
                        <a:t>87.50%</a:t>
                      </a:r>
                    </a:p>
                  </a:txBody>
                  <a:tcPr anchor="ctr">
                    <a:solidFill>
                      <a:srgbClr val="FFFFFF"/>
                    </a:solidFill>
                  </a:tcPr>
                </a:tc>
                <a:tc>
                  <a:txBody>
                    <a:bodyPr/>
                    <a:lstStyle/>
                    <a:p>
                      <a:pPr algn="ctr">
                        <a:defRPr sz="950">
                          <a:solidFill>
                            <a:srgbClr val="282D37"/>
                          </a:solidFill>
                        </a:defRPr>
                      </a:pPr>
                      <a:r>
                        <a:t>Nhận diện đúng 87.5% ý định gọi Tool hủy/tra cứu</a:t>
                      </a:r>
                    </a:p>
                  </a:txBody>
                  <a:tcPr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a:spAutoFit/>
          </a:bodyPr>
          <a:lstStyle/>
          <a:p>
            <a:pPr>
              <a:defRPr sz="950" b="1">
                <a:solidFill>
                  <a:srgbClr val="2E75B6"/>
                </a:solidFill>
              </a:defRPr>
            </a:pPr>
            <a:r>
              <a:t>AI CUSTOMER SUPPORT COPILOT • MODULE 2 &amp; 3</a:t>
            </a:r>
          </a:p>
        </p:txBody>
      </p:sp>
      <p:sp>
        <p:nvSpPr>
          <p:cNvPr id="3" name="TextBox 2"/>
          <p:cNvSpPr txBox="1"/>
          <p:nvPr/>
        </p:nvSpPr>
        <p:spPr>
          <a:xfrm>
            <a:off x="731520" y="594360"/>
            <a:ext cx="10698480" cy="594360"/>
          </a:xfrm>
          <a:prstGeom prst="rect">
            <a:avLst/>
          </a:prstGeom>
          <a:noFill/>
        </p:spPr>
        <p:txBody>
          <a:bodyPr wrap="square">
            <a:spAutoFit/>
          </a:bodyPr>
          <a:lstStyle/>
          <a:p>
            <a:pPr>
              <a:defRPr sz="2100" b="1">
                <a:solidFill>
                  <a:srgbClr val="1F4E79"/>
                </a:solidFill>
              </a:defRPr>
            </a:pPr>
            <a:r>
              <a:t>Kiểm thử Hồi quy (18/18 Tests) &amp; Demo Giao diện Streamlit UI</a:t>
            </a:r>
          </a:p>
        </p:txBody>
      </p:sp>
      <p:sp>
        <p:nvSpPr>
          <p:cNvPr id="4" name="Rounded Rectangle 3"/>
          <p:cNvSpPr/>
          <p:nvPr/>
        </p:nvSpPr>
        <p:spPr>
          <a:xfrm>
            <a:off x="731520" y="1371600"/>
            <a:ext cx="5120640" cy="484632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300" b="1">
                <a:solidFill>
                  <a:srgbClr val="107C41"/>
                </a:solidFill>
              </a:defRPr>
            </a:pPr>
            <a:r>
              <a:t>Kiểm thử Tự động Toàn diện (18/18 Tests Passed)</a:t>
            </a:r>
          </a:p>
          <a:p>
            <a:pPr>
              <a:spcAft>
                <a:spcPts val="300"/>
              </a:spcAft>
              <a:defRPr sz="1050">
                <a:solidFill>
                  <a:srgbClr val="282D37"/>
                </a:solidFill>
              </a:defRPr>
            </a:pPr>
            <a:r>
              <a:t>•  Lệnh chạy: python -m unittest discover tests (chạy trong 0.19 giây).</a:t>
            </a:r>
          </a:p>
          <a:p>
            <a:pPr>
              <a:spcAft>
                <a:spcPts val="300"/>
              </a:spcAft>
              <a:defRPr sz="1050">
                <a:solidFill>
                  <a:srgbClr val="282D37"/>
                </a:solidFill>
              </a:defRPr>
            </a:pPr>
            <a:r>
              <a:t>•  12 Tests Module 1 &amp; 2: Guardrail độ tin cậy, Financial Guard chặn hoàn tiền, Policy Freshness Guard chặn điều khoản hết hạn.</a:t>
            </a:r>
          </a:p>
          <a:p>
            <a:pPr>
              <a:spcAft>
                <a:spcPts val="300"/>
              </a:spcAft>
              <a:defRPr sz="1050">
                <a:solidFill>
                  <a:srgbClr val="282D37"/>
                </a:solidFill>
              </a:defRPr>
            </a:pPr>
            <a:r>
              <a:t>•  6 Tests Module 3: Tự động migrate 100 đơn hàng, tra cứu chỉ mục SĐT/mã đơn, kiểm thử eviction và invalidation của LRU Cache, logic hủy đơn an toàn.</a:t>
            </a:r>
          </a:p>
          <a:p>
            <a:pPr>
              <a:spcAft>
                <a:spcPts val="300"/>
              </a:spcAft>
              <a:defRPr sz="1050">
                <a:solidFill>
                  <a:srgbClr val="282D37"/>
                </a:solidFill>
              </a:defRPr>
            </a:pPr>
            <a:r>
              <a:t>•  Độ ổn định: Đạt 100% test case, sẵn sàng tích hợp CI/CD.</a:t>
            </a:r>
          </a:p>
        </p:txBody>
      </p:sp>
      <p:sp>
        <p:nvSpPr>
          <p:cNvPr id="5" name="Rounded Rectangle 4"/>
          <p:cNvSpPr/>
          <p:nvPr/>
        </p:nvSpPr>
        <p:spPr>
          <a:xfrm>
            <a:off x="6217920" y="1371600"/>
            <a:ext cx="5120640" cy="484632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300" b="1">
                <a:solidFill>
                  <a:srgbClr val="1F4E79"/>
                </a:solidFill>
              </a:defRPr>
            </a:pPr>
            <a:r>
              <a:t>Trải nghiệm Thực tế trên UI (http://localhost:8501)</a:t>
            </a:r>
          </a:p>
          <a:p>
            <a:pPr>
              <a:spcAft>
                <a:spcPts val="300"/>
              </a:spcAft>
              <a:defRPr sz="1050">
                <a:solidFill>
                  <a:srgbClr val="282D37"/>
                </a:solidFill>
              </a:defRPr>
            </a:pPr>
            <a:r>
              <a:t>•  Kịch bản 1 (Tra cứu qua SĐT): Khách nhập 'Kiểm tra đơn của SĐT 0938.242.854' ➔ Tool check_order_status tự chạy, kéo lộ trình bưu tá GHN và thông tin đơn ORD-1001 lên màn hình.</a:t>
            </a:r>
          </a:p>
          <a:p>
            <a:pPr>
              <a:spcAft>
                <a:spcPts val="300"/>
              </a:spcAft>
              <a:defRPr sz="1050">
                <a:solidFill>
                  <a:srgbClr val="282D37"/>
                </a:solidFill>
              </a:defRPr>
            </a:pPr>
            <a:r>
              <a:t>•  Kịch bản 2 (Hủy đơn an toàn): Khách nhập 'Hủy đơn ORD-1026 giúp tôi' ➔ Tool cancel_order tự kích hoạt, cập nhật CSDL sang 'Cancelled' và xóa cache.</a:t>
            </a:r>
          </a:p>
          <a:p>
            <a:pPr>
              <a:spcAft>
                <a:spcPts val="300"/>
              </a:spcAft>
              <a:defRPr sz="1050">
                <a:solidFill>
                  <a:srgbClr val="282D37"/>
                </a:solidFill>
              </a:defRPr>
            </a:pPr>
            <a:r>
              <a:t>•  Bảo vệ nghiệp vụ: Đơn đang giao (ORD-1001) bị từ chối hủy.</a:t>
            </a:r>
          </a:p>
          <a:p>
            <a:pPr>
              <a:spcAft>
                <a:spcPts val="300"/>
              </a:spcAft>
              <a:defRPr sz="1050">
                <a:solidFill>
                  <a:srgbClr val="282D37"/>
                </a:solidFill>
              </a:defRPr>
            </a:pPr>
            <a:r>
              <a:t>•  Tab 2 (Dashboard): Giám sát realtime Hit Ratio, Cache Hits/Misses.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a:spAutoFit/>
          </a:bodyPr>
          <a:lstStyle/>
          <a:p>
            <a:pPr>
              <a:defRPr sz="950" b="1">
                <a:solidFill>
                  <a:srgbClr val="2E75B6"/>
                </a:solidFill>
              </a:defRPr>
            </a:pPr>
            <a:r>
              <a:t>AI CUSTOMER SUPPORT COPILOT • MODULE 2 &amp; 3</a:t>
            </a:r>
          </a:p>
        </p:txBody>
      </p:sp>
      <p:sp>
        <p:nvSpPr>
          <p:cNvPr id="3" name="TextBox 2"/>
          <p:cNvSpPr txBox="1"/>
          <p:nvPr/>
        </p:nvSpPr>
        <p:spPr>
          <a:xfrm>
            <a:off x="731520" y="594360"/>
            <a:ext cx="10698480" cy="594360"/>
          </a:xfrm>
          <a:prstGeom prst="rect">
            <a:avLst/>
          </a:prstGeom>
          <a:noFill/>
        </p:spPr>
        <p:txBody>
          <a:bodyPr wrap="square">
            <a:spAutoFit/>
          </a:bodyPr>
          <a:lstStyle/>
          <a:p>
            <a:pPr>
              <a:defRPr sz="2100" b="1">
                <a:solidFill>
                  <a:srgbClr val="1F4E79"/>
                </a:solidFill>
              </a:defRPr>
            </a:pPr>
            <a:r>
              <a:t>Tổng kết Giá trị Đạt được &amp; Định hướng Tiếp theo</a:t>
            </a:r>
          </a:p>
        </p:txBody>
      </p:sp>
      <p:sp>
        <p:nvSpPr>
          <p:cNvPr id="4" name="Rounded Rectangle 3"/>
          <p:cNvSpPr/>
          <p:nvPr/>
        </p:nvSpPr>
        <p:spPr>
          <a:xfrm>
            <a:off x="731520" y="1371600"/>
            <a:ext cx="5120640" cy="484632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300" b="1">
                <a:solidFill>
                  <a:srgbClr val="1F4E79"/>
                </a:solidFill>
              </a:defRPr>
            </a:pPr>
            <a:r>
              <a:t>Tổng kết Giá trị Đạt được (Module 2 &amp; 3)</a:t>
            </a:r>
          </a:p>
          <a:p>
            <a:pPr>
              <a:spcAft>
                <a:spcPts val="300"/>
              </a:spcAft>
              <a:defRPr sz="1050">
                <a:solidFill>
                  <a:srgbClr val="282D37"/>
                </a:solidFill>
              </a:defRPr>
            </a:pPr>
            <a:r>
              <a:t>•  Module 2 (RAG Tri thức Chính sách):</a:t>
            </a:r>
          </a:p>
          <a:p>
            <a:pPr>
              <a:spcAft>
                <a:spcPts val="300"/>
              </a:spcAft>
              <a:defRPr sz="1050">
                <a:solidFill>
                  <a:srgbClr val="282D37"/>
                </a:solidFill>
              </a:defRPr>
            </a:pPr>
            <a:r>
              <a:t>•    • Làm chủ 5 thuật toán tìm kiếm từ khóa và vector.</a:t>
            </a:r>
          </a:p>
          <a:p>
            <a:pPr>
              <a:spcAft>
                <a:spcPts val="300"/>
              </a:spcAft>
              <a:defRPr sz="1050">
                <a:solidFill>
                  <a:srgbClr val="282D37"/>
                </a:solidFill>
              </a:defRPr>
            </a:pPr>
            <a:r>
              <a:t>•    • Đưa độ trễ tìm chính sách về 0.66 ms (&lt; 15 ms).</a:t>
            </a:r>
          </a:p>
          <a:p>
            <a:pPr>
              <a:spcAft>
                <a:spcPts val="300"/>
              </a:spcAft>
              <a:defRPr sz="1050">
                <a:solidFill>
                  <a:srgbClr val="282D37"/>
                </a:solidFill>
              </a:defRPr>
            </a:pPr>
            <a:r>
              <a:t>•    • Độ chính xác tuyệt đối: Hit Rate@3 = 100%, MRR@3 = 0.98.</a:t>
            </a:r>
          </a:p>
          <a:p>
            <a:pPr>
              <a:spcAft>
                <a:spcPts val="300"/>
              </a:spcAft>
              <a:defRPr sz="1050">
                <a:solidFill>
                  <a:srgbClr val="282D37"/>
                </a:solidFill>
              </a:defRPr>
            </a:pPr>
            <a:r>
              <a:t>•  Module 3 (Dữ liệu Động &amp; Tool Calling):</a:t>
            </a:r>
          </a:p>
          <a:p>
            <a:pPr>
              <a:spcAft>
                <a:spcPts val="300"/>
              </a:spcAft>
              <a:defRPr sz="1050">
                <a:solidFill>
                  <a:srgbClr val="282D37"/>
                </a:solidFill>
              </a:defRPr>
            </a:pPr>
            <a:r>
              <a:t>•    • Xóa bỏ nghẽn I/O, nâng thông lượng lên 11,532 req/s.</a:t>
            </a:r>
          </a:p>
          <a:p>
            <a:pPr>
              <a:spcAft>
                <a:spcPts val="300"/>
              </a:spcAft>
              <a:defRPr sz="1050">
                <a:solidFill>
                  <a:srgbClr val="282D37"/>
                </a:solidFill>
              </a:defRPr>
            </a:pPr>
            <a:r>
              <a:t>•    • Độ trễ CSDL đạt 0.017 ms trên RAM và 0.85 ms trên đĩa (&lt; 2 ms).</a:t>
            </a:r>
          </a:p>
          <a:p>
            <a:pPr>
              <a:spcAft>
                <a:spcPts val="300"/>
              </a:spcAft>
              <a:defRPr sz="1050">
                <a:solidFill>
                  <a:srgbClr val="282D37"/>
                </a:solidFill>
              </a:defRPr>
            </a:pPr>
            <a:r>
              <a:t>•    • ReAct Agent tự bóc tách thực thể và thực thi tool (F1 = 100%).</a:t>
            </a:r>
          </a:p>
          <a:p>
            <a:pPr>
              <a:spcAft>
                <a:spcPts val="300"/>
              </a:spcAft>
              <a:defRPr sz="1050">
                <a:solidFill>
                  <a:srgbClr val="282D37"/>
                </a:solidFill>
              </a:defRPr>
            </a:pPr>
            <a:r>
              <a:t>•    • Tuân thủ Human-in-the-Loop: Nhân viên kiểm duyệt trước khi gửi.</a:t>
            </a:r>
          </a:p>
        </p:txBody>
      </p:sp>
      <p:sp>
        <p:nvSpPr>
          <p:cNvPr id="5" name="Rounded Rectangle 4"/>
          <p:cNvSpPr/>
          <p:nvPr/>
        </p:nvSpPr>
        <p:spPr>
          <a:xfrm>
            <a:off x="6217920" y="1371600"/>
            <a:ext cx="3291840" cy="484632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300" b="1">
                <a:solidFill>
                  <a:srgbClr val="2E75B6"/>
                </a:solidFill>
              </a:defRPr>
            </a:pPr>
            <a:r>
              <a:t>Ba Định hướng Phát triển Kế tiếp</a:t>
            </a:r>
          </a:p>
          <a:p>
            <a:pPr>
              <a:spcAft>
                <a:spcPts val="300"/>
              </a:spcAft>
              <a:defRPr sz="1050">
                <a:solidFill>
                  <a:srgbClr val="282D37"/>
                </a:solidFill>
              </a:defRPr>
            </a:pPr>
            <a:r>
              <a:t>•  1. Finetuning Intent tiếng Việt: Huấn luyện lại model phân loại trên tập Vietnamese-Customer-Support-QA để nâng độ tin cậy từ 10% lên &gt; 90%.</a:t>
            </a:r>
          </a:p>
          <a:p>
            <a:pPr>
              <a:spcAft>
                <a:spcPts val="300"/>
              </a:spcAft>
              <a:defRPr sz="1050">
                <a:solidFill>
                  <a:srgbClr val="282D37"/>
                </a:solidFill>
              </a:defRPr>
            </a:pPr>
            <a:r>
              <a:t>•  2. Redis Cache Phân tán: Mở rộng lớp OrderLRUCache sang Redis Cluster khi chạy nhiều container.</a:t>
            </a:r>
          </a:p>
          <a:p>
            <a:pPr>
              <a:spcAft>
                <a:spcPts val="300"/>
              </a:spcAft>
              <a:defRPr sz="1050">
                <a:solidFill>
                  <a:srgbClr val="282D37"/>
                </a:solidFill>
              </a:defRPr>
            </a:pPr>
            <a:r>
              <a:t>•  3. Mở rộng Function Tools: Thêm tool xuất hóa đơn VAT, đổi địa chỉ nhận hàng và áp voucher.</a:t>
            </a:r>
          </a:p>
        </p:txBody>
      </p:sp>
      <p:sp>
        <p:nvSpPr>
          <p:cNvPr id="6" name="Rounded Rectangle 5"/>
          <p:cNvSpPr/>
          <p:nvPr/>
        </p:nvSpPr>
        <p:spPr>
          <a:xfrm>
            <a:off x="9692640" y="1371600"/>
            <a:ext cx="1737360" cy="4846320"/>
          </a:xfrm>
          <a:prstGeom prst="roundRect">
            <a:avLst/>
          </a:prstGeom>
          <a:solidFill>
            <a:srgbClr val="FFFFFF"/>
          </a:solidFill>
          <a:ln w="12700">
            <a:solidFill>
              <a:srgbClr val="D7E1EB"/>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600"/>
              </a:spcAft>
              <a:defRPr sz="1300" b="1">
                <a:solidFill>
                  <a:srgbClr val="107C41"/>
                </a:solidFill>
              </a:defRPr>
            </a:pPr>
            <a:r>
              <a:t>Lời kết</a:t>
            </a:r>
          </a:p>
          <a:p>
            <a:pPr>
              <a:spcAft>
                <a:spcPts val="300"/>
              </a:spcAft>
              <a:defRPr sz="1050">
                <a:solidFill>
                  <a:srgbClr val="282D37"/>
                </a:solidFill>
              </a:defRPr>
            </a:pPr>
            <a:r>
              <a:t>•  Mã nguồn, dữ liệu benchmark và tài liệu Word đã lưu trữ đầy đủ trong thư mục reports.</a:t>
            </a:r>
          </a:p>
          <a:p>
            <a:pPr>
              <a:spcAft>
                <a:spcPts val="300"/>
              </a:spcAft>
              <a:defRPr sz="1050">
                <a:solidFill>
                  <a:srgbClr val="282D37"/>
                </a:solidFill>
              </a:defRPr>
            </a:pPr>
            <a:r>
              <a:t>•  Sẵn sàng triển khai thực tế!</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