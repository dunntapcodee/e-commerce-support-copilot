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thầy cô và anh chị. Hôm nay em xin trình bày báo cáo kỹ thuật 2 module cốt lõi của dự án AI Copilot CSKH: Module 2 giải bài toán tra cứu tri thức chính sách sàn TMĐT (RAG), và Module 3 giải bài toán truy xuất CSDL đơn hàng và gọi công cụ nghiệp vụ theo thời gian thực (Tool Calling).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hệ thống AI CSKH thực tế không thể chỉ biết trả lời lý thuyết chung chung. Nó phải giải quyết đồng thời: tra cứu tri thức chính sách sàn siêu tốc (Module 2) và thao tác trực tiếp trên dữ liệu đơn hàng sống của từng khách hàng (Module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Module 2, nhóm không chọn cảm tính một model trên mạng mà đã triển khai cả 5 trường phái: từ tìm kiếm từ khóa cổ điển (TF-IDF, BM25) đến AI vector ngữ nghĩa (Dense, Hybrid RRF) và mô hình Cross-Encoder Reranker sâu nhất để đo lường khách quan.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chứng minh: Không phải cứ Deep Learning nặng là tốt nhất. Với kho 47 chính sách TMĐT, BM25 cho độ chính xác cao hơn Dense (100% vs 86.5%) mà tốc độ chỉ mất 0.66 mili-giây, hoàn toàn đáp ứng chỉ tiêu thời gian thực trên CPU.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cũ có 2 điểm yếu chí mạng: Thứ nhất là đọc file JSON liên tục khiến server bị nghẽn I/O và vi phạm mốc 2ms; thứ hai là Regex quá cứng nhắc, khách chỉ cần gõ thiếu chữ ORD- hoặc dùng số điện thoại là bot chịu thua hoàn toàn.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giải quyết triệt để, nhóm đã xây dựng 4 trụ cột: Di chuyển CSDL có Index B-Tree, dựng bộ nhớ đệm LRU Cache trên RAM, chuẩn hóa 4 Tool nghiệp vụ theo chuẩn JSON Schema, và trang bị bộ não ReAct Agent tự bóc tách thực thể.</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Nhìn vào bảng số liệu, Baseline JSON vi phạm tiêu chuẩn với p95 là 2.16 ms. Khi có chỉ mục B-Tree, p95 giảm xuống 0.84 ms. Đặc biệt, khi kết hợp LRU Cache, tốc độ đạt 17 micro-giây, hệ thống có thể chịu tải hơn 11,500 lượt tra cứu mỗi giây.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phần bóc tách thực thể, Baseline Regex chỉ đạt F1 77% trên mã đơn và 0% trên SĐT. Bộ ReAct Agent đạt F1 tuyệt đối 100% trên cả 2 trường, đồng thời đoán đúng 87.5% ý định gọi công cụ của khách hàng để thực thi nghiệp vụ thật.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Tất cả logic trên không chỉ nằm trên lý thuyết mà đã được tích hợp lên giao diện thật. Mọi người có thể gõ câu hỏi bằng SĐT hoặc yêu cầu hủy đơn, hệ thống sẽ tự động gọi tool và cập nhật thẳng vào CSDL trước mắt nhân viên.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lại, Module 2 giúp AI hiểu luật và tìm đúng chính sách trong chưa đầy 1 mili-giây. Module 3 giúp AI có đôi tay hành động, tra cứu và thao tác trực tiếp vào dữ liệu nghiệp vụ với thông lượng hơn 11 nghìn lượt mỗi giây.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Trên đây là toàn bộ báo cáo tiến độ và kết quả thực nghiệm của Module 2 và Module 3. Toàn bộ mã nguồn, dữ liệu benchmark và tài liệu Word chi tiết đều đã được lưu trữ hoàn chỉnh trong thư mục reports. Em xin cảm ơn quý thầy cô/anh chị và rất mong nhận được câu hỏi góp ý!</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731520" y="1645920"/>
            <a:ext cx="137160" cy="3291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463040"/>
            <a:ext cx="10058400" cy="3474720"/>
          </a:xfrm>
          <a:prstGeom prst="rect">
            <a:avLst/>
          </a:prstGeom>
          <a:noFill/>
        </p:spPr>
        <p:txBody>
          <a:bodyPr wrap="square">
            <a:spAutoFit/>
          </a:bodyPr>
          <a:lstStyle/>
          <a:p>
            <a:pPr>
              <a:spcAft>
                <a:spcPts val="1200"/>
              </a:spcAft>
              <a:defRPr sz="1300" b="1">
                <a:solidFill>
                  <a:srgbClr val="2E75B6"/>
                </a:solidFill>
              </a:defRPr>
            </a:pPr>
            <a:r>
              <a:t>AI CUSTOMER SUPPORT COPILOT (E-COMMERCE)</a:t>
            </a:r>
          </a:p>
          <a:p>
            <a:pPr>
              <a:spcAft>
                <a:spcPts val="1000"/>
              </a:spcAft>
              <a:defRPr sz="2800" b="1">
                <a:solidFill>
                  <a:srgbClr val="1F4E79"/>
                </a:solidFill>
              </a:defRPr>
            </a:pPr>
            <a:r>
              <a:t>Tối ưu hóa RAG Chính sách &amp; Tích hợp Dữ liệu Động Thời gian thực</a:t>
            </a:r>
          </a:p>
          <a:p>
            <a:pPr>
              <a:spcAft>
                <a:spcPts val="2400"/>
              </a:spcAft>
              <a:defRPr sz="1400">
                <a:solidFill>
                  <a:srgbClr val="282D37"/>
                </a:solidFill>
              </a:defRPr>
            </a:pPr>
            <a:r>
              <a:t>Báo cáo Kỹ thuật &amp; Thực nghiệm Chuyên sâu: Module 2 (Policy RAG) và Module 3 (Dynamic Orders &amp; Tool Calling)</a:t>
            </a:r>
          </a:p>
          <a:p>
            <a:pPr>
              <a:defRPr sz="1100" b="1">
                <a:solidFill>
                  <a:srgbClr val="107C41"/>
                </a:solidFill>
              </a:defRPr>
            </a:pPr>
            <a:r>
              <a:t>⚡ Module 2: BM25 Latency 0.66 ms (Hit Rate 100%)    |    ⚡ Module 3: LRU Cache 11,532 QPS (F1 100%)    |    ⚡ 18/18 Tests Passed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950" b="1">
                <a:solidFill>
                  <a:srgbClr val="2E75B6"/>
                </a:solidFill>
              </a:defRPr>
            </a:pPr>
            <a:r>
              <a:t>AI CUSTOMER SUPPORT COPILOT • MODULE 2 &amp; 3</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F4E79"/>
                </a:solidFill>
              </a:defRPr>
            </a:pPr>
            <a:r>
              <a:t>Bối cảnh Nghiệp vụ &amp; Hai Thách thức Kỹ thuật Lớn</a:t>
            </a:r>
          </a:p>
        </p:txBody>
      </p:sp>
      <p:sp>
        <p:nvSpPr>
          <p:cNvPr id="4" name="Rounded Rectangle 3"/>
          <p:cNvSpPr/>
          <p:nvPr/>
        </p:nvSpPr>
        <p:spPr>
          <a:xfrm>
            <a:off x="731520" y="1463040"/>
            <a:ext cx="5120640" cy="475488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1F4E79"/>
                </a:solidFill>
              </a:defRPr>
            </a:pPr>
            <a:r>
              <a:t>Thách thức 1: Tri thức Tĩnh (Module 2)</a:t>
            </a:r>
          </a:p>
          <a:p>
            <a:pPr>
              <a:spcAft>
                <a:spcPts val="400"/>
              </a:spcAft>
              <a:defRPr sz="1100">
                <a:solidFill>
                  <a:srgbClr val="282D37"/>
                </a:solidFill>
              </a:defRPr>
            </a:pPr>
            <a:r>
              <a:t>•  Khách hỏi chính sách đổi trả, bảo hành, hoàn tiền của sàn TMĐT.</a:t>
            </a:r>
          </a:p>
          <a:p>
            <a:pPr>
              <a:spcAft>
                <a:spcPts val="400"/>
              </a:spcAft>
              <a:defRPr sz="1100">
                <a:solidFill>
                  <a:srgbClr val="282D37"/>
                </a:solidFill>
              </a:defRPr>
            </a:pPr>
            <a:r>
              <a:t>•  Kho tri thức gồm 50 văn bản pháp lý (47 có hiệu lực, 3 đã hết hạn).</a:t>
            </a:r>
          </a:p>
          <a:p>
            <a:pPr>
              <a:spcAft>
                <a:spcPts val="400"/>
              </a:spcAft>
              <a:defRPr sz="1100">
                <a:solidFill>
                  <a:srgbClr val="282D37"/>
                </a:solidFill>
              </a:defRPr>
            </a:pPr>
            <a:r>
              <a:t>•  Rủi ro ảo giác (Hallucination): LLM tự bịa điều khoản hoặc trích nhầm chính sách cũ.</a:t>
            </a:r>
          </a:p>
          <a:p>
            <a:pPr>
              <a:spcAft>
                <a:spcPts val="400"/>
              </a:spcAft>
              <a:defRPr sz="1100">
                <a:solidFill>
                  <a:srgbClr val="282D37"/>
                </a:solidFill>
              </a:defRPr>
            </a:pPr>
            <a:r>
              <a:t>•  Ràng buộc độ trễ khắt khe: Phải tìm ra Top 3 điều khoản chính xác trong thời gian &lt; 15 ms để kịp luồng hội thoại.</a:t>
            </a:r>
          </a:p>
          <a:p>
            <a:pPr>
              <a:spcAft>
                <a:spcPts val="400"/>
              </a:spcAft>
              <a:defRPr sz="1100">
                <a:solidFill>
                  <a:srgbClr val="282D37"/>
                </a:solidFill>
              </a:defRPr>
            </a:pPr>
            <a:r>
              <a:t>•  Giải pháp: Thử nghiệm và đối sánh 5 thuật toán Retrieval (BM25, Dense, Hybrid RRF, Reranker).</a:t>
            </a:r>
          </a:p>
        </p:txBody>
      </p:sp>
      <p:sp>
        <p:nvSpPr>
          <p:cNvPr id="5" name="Rounded Rectangle 4"/>
          <p:cNvSpPr/>
          <p:nvPr/>
        </p:nvSpPr>
        <p:spPr>
          <a:xfrm>
            <a:off x="6217920" y="1463040"/>
            <a:ext cx="5120640" cy="475488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2E75B6"/>
                </a:solidFill>
              </a:defRPr>
            </a:pPr>
            <a:r>
              <a:t>Thách thức 2: Dữ liệu Động (Module 3)</a:t>
            </a:r>
          </a:p>
          <a:p>
            <a:pPr>
              <a:spcAft>
                <a:spcPts val="400"/>
              </a:spcAft>
              <a:defRPr sz="1100">
                <a:solidFill>
                  <a:srgbClr val="282D37"/>
                </a:solidFill>
              </a:defRPr>
            </a:pPr>
            <a:r>
              <a:t>•  Khách hỏi tình trạng đơn hàng cụ thể, yêu cầu hủy đơn, tra cứu theo SĐT.</a:t>
            </a:r>
          </a:p>
          <a:p>
            <a:pPr>
              <a:spcAft>
                <a:spcPts val="400"/>
              </a:spcAft>
              <a:defRPr sz="1100">
                <a:solidFill>
                  <a:srgbClr val="282D37"/>
                </a:solidFill>
              </a:defRPr>
            </a:pPr>
            <a:r>
              <a:t>•  Dữ liệu thay đổi liên tục: Trạng thái đơn, vị trí bưu tá GHN/Tiki, số tiền thanh toán.</a:t>
            </a:r>
          </a:p>
          <a:p>
            <a:pPr>
              <a:spcAft>
                <a:spcPts val="400"/>
              </a:spcAft>
              <a:defRPr sz="1100">
                <a:solidFill>
                  <a:srgbClr val="282D37"/>
                </a:solidFill>
              </a:defRPr>
            </a:pPr>
            <a:r>
              <a:t>•  Điểm nghẽn cũ: Quét file JSON tuần tự khiến I/O bị nghẽn (&gt; 2.16 ms), Regex cứng bỏ sót tiếng lóng.</a:t>
            </a:r>
          </a:p>
          <a:p>
            <a:pPr>
              <a:spcAft>
                <a:spcPts val="400"/>
              </a:spcAft>
              <a:defRPr sz="1100">
                <a:solidFill>
                  <a:srgbClr val="282D37"/>
                </a:solidFill>
              </a:defRPr>
            </a:pPr>
            <a:r>
              <a:t>•  Ràng buộc CSDL &amp; Nghiệp vụ: Độ trễ truy vấn phải đạt &lt; 2.0 ms và tự động kích hoạt hành động hủy/tra cứu an toàn.</a:t>
            </a:r>
          </a:p>
          <a:p>
            <a:pPr>
              <a:spcAft>
                <a:spcPts val="400"/>
              </a:spcAft>
              <a:defRPr sz="1100">
                <a:solidFill>
                  <a:srgbClr val="282D37"/>
                </a:solidFill>
              </a:defRPr>
            </a:pPr>
            <a:r>
              <a:t>•  Giải pháp: SQLite B-Tree Index + LRU Cache O(1) + ReAct Agent gọi Function Tools.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950" b="1">
                <a:solidFill>
                  <a:srgbClr val="2E75B6"/>
                </a:solidFill>
              </a:defRPr>
            </a:pPr>
            <a:r>
              <a:t>AI CUSTOMER SUPPORT COPILOT • MODULE 2 &amp; 3</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F4E79"/>
                </a:solidFill>
              </a:defRPr>
            </a:pPr>
            <a:r>
              <a:t>Module 2: Thiết kế Thực nghiệm 5 Thuật toán RAG Search</a:t>
            </a:r>
          </a:p>
        </p:txBody>
      </p:sp>
      <p:sp>
        <p:nvSpPr>
          <p:cNvPr id="4" name="Rounded Rectangle 3"/>
          <p:cNvSpPr/>
          <p:nvPr/>
        </p:nvSpPr>
        <p:spPr>
          <a:xfrm>
            <a:off x="731520" y="1463040"/>
            <a:ext cx="5120640" cy="219456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1F4E79"/>
                </a:solidFill>
              </a:defRPr>
            </a:pPr>
            <a:r>
              <a:t>1. TF-IDF + Cosine (Baseline)</a:t>
            </a:r>
          </a:p>
          <a:p>
            <a:pPr>
              <a:spcAft>
                <a:spcPts val="400"/>
              </a:spcAft>
              <a:defRPr sz="1100">
                <a:solidFill>
                  <a:srgbClr val="282D37"/>
                </a:solidFill>
              </a:defRPr>
            </a:pPr>
            <a:r>
              <a:t>•  Mô hình tần suất từ khóa cổ điển (n-gram 1, 2).</a:t>
            </a:r>
          </a:p>
          <a:p>
            <a:pPr>
              <a:spcAft>
                <a:spcPts val="400"/>
              </a:spcAft>
              <a:defRPr sz="1100">
                <a:solidFill>
                  <a:srgbClr val="282D37"/>
                </a:solidFill>
              </a:defRPr>
            </a:pPr>
            <a:r>
              <a:t>•  Nhẹ, nhanh nhưng không hiểu biến thể từ đồng nghĩa.</a:t>
            </a:r>
          </a:p>
        </p:txBody>
      </p:sp>
      <p:sp>
        <p:nvSpPr>
          <p:cNvPr id="5" name="Rounded Rectangle 4"/>
          <p:cNvSpPr/>
          <p:nvPr/>
        </p:nvSpPr>
        <p:spPr>
          <a:xfrm>
            <a:off x="6217920" y="1463040"/>
            <a:ext cx="5120640" cy="219456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1F4E79"/>
                </a:solidFill>
              </a:defRPr>
            </a:pPr>
            <a:r>
              <a:t>2. BM25Okapi (Lexical)</a:t>
            </a:r>
          </a:p>
          <a:p>
            <a:pPr>
              <a:spcAft>
                <a:spcPts val="400"/>
              </a:spcAft>
              <a:defRPr sz="1100">
                <a:solidFill>
                  <a:srgbClr val="282D37"/>
                </a:solidFill>
              </a:defRPr>
            </a:pPr>
            <a:r>
              <a:t>•  Chuẩn hóa theo chiều dài văn bản tài liệu.</a:t>
            </a:r>
          </a:p>
          <a:p>
            <a:pPr>
              <a:spcAft>
                <a:spcPts val="400"/>
              </a:spcAft>
              <a:defRPr sz="1100">
                <a:solidFill>
                  <a:srgbClr val="282D37"/>
                </a:solidFill>
              </a:defRPr>
            </a:pPr>
            <a:r>
              <a:t>•  Cực kỳ mạnh với từ khóa chính xác: số ngày, điều kiện đổi trả.</a:t>
            </a:r>
          </a:p>
        </p:txBody>
      </p:sp>
      <p:sp>
        <p:nvSpPr>
          <p:cNvPr id="6" name="Rounded Rectangle 5"/>
          <p:cNvSpPr/>
          <p:nvPr/>
        </p:nvSpPr>
        <p:spPr>
          <a:xfrm>
            <a:off x="731520" y="3931920"/>
            <a:ext cx="5120640" cy="219456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1F4E79"/>
                </a:solidFill>
              </a:defRPr>
            </a:pPr>
            <a:r>
              <a:t>3. Dense Embedding (sBERT / BGE-M3)</a:t>
            </a:r>
          </a:p>
          <a:p>
            <a:pPr>
              <a:spcAft>
                <a:spcPts val="400"/>
              </a:spcAft>
              <a:defRPr sz="1100">
                <a:solidFill>
                  <a:srgbClr val="282D37"/>
                </a:solidFill>
              </a:defRPr>
            </a:pPr>
            <a:r>
              <a:t>•  Mã hóa vector ngữ nghĩa không gian 768/1024 chiều.</a:t>
            </a:r>
          </a:p>
          <a:p>
            <a:pPr>
              <a:spcAft>
                <a:spcPts val="400"/>
              </a:spcAft>
              <a:defRPr sz="1100">
                <a:solidFill>
                  <a:srgbClr val="282D37"/>
                </a:solidFill>
              </a:defRPr>
            </a:pPr>
            <a:r>
              <a:t>•  Tìm kiếm bằng FAISS IndexFlatIP / Cosine similarity.</a:t>
            </a:r>
          </a:p>
        </p:txBody>
      </p:sp>
      <p:sp>
        <p:nvSpPr>
          <p:cNvPr id="7" name="Rounded Rectangle 6"/>
          <p:cNvSpPr/>
          <p:nvPr/>
        </p:nvSpPr>
        <p:spPr>
          <a:xfrm>
            <a:off x="6217920" y="3931920"/>
            <a:ext cx="5120640" cy="219456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1F4E79"/>
                </a:solidFill>
              </a:defRPr>
            </a:pPr>
            <a:r>
              <a:t>4. Hybrid RRF &amp; Cross-Encoder</a:t>
            </a:r>
          </a:p>
          <a:p>
            <a:pPr>
              <a:spcAft>
                <a:spcPts val="400"/>
              </a:spcAft>
              <a:defRPr sz="1100">
                <a:solidFill>
                  <a:srgbClr val="282D37"/>
                </a:solidFill>
              </a:defRPr>
            </a:pPr>
            <a:r>
              <a:t>•  Hybrid RRF (k=60): Dung hợp thứ hạng BM25 + Dense vector.</a:t>
            </a:r>
          </a:p>
          <a:p>
            <a:pPr>
              <a:spcAft>
                <a:spcPts val="400"/>
              </a:spcAft>
              <a:defRPr sz="1100">
                <a:solidFill>
                  <a:srgbClr val="282D37"/>
                </a:solidFill>
              </a:defRPr>
            </a:pPr>
            <a:r>
              <a:t>•  Reranker: Cross-Encoder BAAI/bge-reranker-base chấm điểm lại top 10.</a:t>
            </a:r>
          </a:p>
          <a:p>
            <a:pPr>
              <a:spcAft>
                <a:spcPts val="400"/>
              </a:spcAft>
              <a:defRPr sz="1100">
                <a:solidFill>
                  <a:srgbClr val="282D37"/>
                </a:solidFill>
              </a:defRPr>
            </a:pPr>
            <a:r>
              <a:t>•  Bộ test: 55 câu hỏi tiếng Việt gán nhãn thủ công (retrieval_eval.json).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950" b="1">
                <a:solidFill>
                  <a:srgbClr val="2E75B6"/>
                </a:solidFill>
              </a:defRPr>
            </a:pPr>
            <a:r>
              <a:t>AI CUSTOMER SUPPORT COPILOT • MODULE 2 &amp; 3</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F4E79"/>
                </a:solidFill>
              </a:defRPr>
            </a:pPr>
            <a:r>
              <a:t>Module 2: Kết quả Benchmark Đối sánh &amp; Quyết định Kiến trúc</a:t>
            </a:r>
          </a:p>
        </p:txBody>
      </p:sp>
      <p:graphicFrame>
        <p:nvGraphicFramePr>
          <p:cNvPr id="4" name="Table 3"/>
          <p:cNvGraphicFramePr>
            <a:graphicFrameLocks noGrp="1"/>
          </p:cNvGraphicFramePr>
          <p:nvPr/>
        </p:nvGraphicFramePr>
        <p:xfrm>
          <a:off x="731520" y="1463040"/>
          <a:ext cx="10698480" cy="2560320"/>
        </p:xfrm>
        <a:graphic>
          <a:graphicData uri="http://schemas.openxmlformats.org/drawingml/2006/table">
            <a:tbl>
              <a:tblPr firstRow="1" bandRow="1">
                <a:tableStyleId>{5C22544A-7EE6-4342-B048-85BDC9FD1C3A}</a:tableStyleId>
              </a:tblPr>
              <a:tblGrid>
                <a:gridCol w="2377440"/>
                <a:gridCol w="1371600"/>
                <a:gridCol w="1371600"/>
                <a:gridCol w="1280160"/>
                <a:gridCol w="1371600"/>
                <a:gridCol w="1371600"/>
                <a:gridCol w="1554480"/>
              </a:tblGrid>
              <a:tr h="426720">
                <a:tc>
                  <a:txBody>
                    <a:bodyPr/>
                    <a:lstStyle/>
                    <a:p>
                      <a:pPr algn="ctr">
                        <a:defRPr sz="1050" b="1">
                          <a:solidFill>
                            <a:srgbClr val="FFFFFF"/>
                          </a:solidFill>
                        </a:defRPr>
                      </a:pPr>
                      <a:r>
                        <a:t>Thuật toán Retrieval</a:t>
                      </a:r>
                    </a:p>
                  </a:txBody>
                  <a:tcPr anchor="ctr">
                    <a:solidFill>
                      <a:srgbClr val="1F4E79"/>
                    </a:solidFill>
                  </a:tcPr>
                </a:tc>
                <a:tc>
                  <a:txBody>
                    <a:bodyPr/>
                    <a:lstStyle/>
                    <a:p>
                      <a:pPr algn="ctr">
                        <a:defRPr sz="1050" b="1">
                          <a:solidFill>
                            <a:srgbClr val="FFFFFF"/>
                          </a:solidFill>
                        </a:defRPr>
                      </a:pPr>
                      <a:r>
                        <a:t>Hit Rate@3</a:t>
                      </a:r>
                    </a:p>
                  </a:txBody>
                  <a:tcPr anchor="ctr">
                    <a:solidFill>
                      <a:srgbClr val="1F4E79"/>
                    </a:solidFill>
                  </a:tcPr>
                </a:tc>
                <a:tc>
                  <a:txBody>
                    <a:bodyPr/>
                    <a:lstStyle/>
                    <a:p>
                      <a:pPr algn="ctr">
                        <a:defRPr sz="1050" b="1">
                          <a:solidFill>
                            <a:srgbClr val="FFFFFF"/>
                          </a:solidFill>
                        </a:defRPr>
                      </a:pPr>
                      <a:r>
                        <a:t>Recall@3</a:t>
                      </a:r>
                    </a:p>
                  </a:txBody>
                  <a:tcPr anchor="ctr">
                    <a:solidFill>
                      <a:srgbClr val="1F4E79"/>
                    </a:solidFill>
                  </a:tcPr>
                </a:tc>
                <a:tc>
                  <a:txBody>
                    <a:bodyPr/>
                    <a:lstStyle/>
                    <a:p>
                      <a:pPr algn="ctr">
                        <a:defRPr sz="1050" b="1">
                          <a:solidFill>
                            <a:srgbClr val="FFFFFF"/>
                          </a:solidFill>
                        </a:defRPr>
                      </a:pPr>
                      <a:r>
                        <a:t>MRR@3</a:t>
                      </a:r>
                    </a:p>
                  </a:txBody>
                  <a:tcPr anchor="ctr">
                    <a:solidFill>
                      <a:srgbClr val="1F4E79"/>
                    </a:solidFill>
                  </a:tcPr>
                </a:tc>
                <a:tc>
                  <a:txBody>
                    <a:bodyPr/>
                    <a:lstStyle/>
                    <a:p>
                      <a:pPr algn="ctr">
                        <a:defRPr sz="1050" b="1">
                          <a:solidFill>
                            <a:srgbClr val="FFFFFF"/>
                          </a:solidFill>
                        </a:defRPr>
                      </a:pPr>
                      <a:r>
                        <a:t>Độ trễ p50</a:t>
                      </a:r>
                    </a:p>
                  </a:txBody>
                  <a:tcPr anchor="ctr">
                    <a:solidFill>
                      <a:srgbClr val="1F4E79"/>
                    </a:solidFill>
                  </a:tcPr>
                </a:tc>
                <a:tc>
                  <a:txBody>
                    <a:bodyPr/>
                    <a:lstStyle/>
                    <a:p>
                      <a:pPr algn="ctr">
                        <a:defRPr sz="1050" b="1">
                          <a:solidFill>
                            <a:srgbClr val="FFFFFF"/>
                          </a:solidFill>
                        </a:defRPr>
                      </a:pPr>
                      <a:r>
                        <a:t>Độ trễ p95</a:t>
                      </a:r>
                    </a:p>
                  </a:txBody>
                  <a:tcPr anchor="ctr">
                    <a:solidFill>
                      <a:srgbClr val="1F4E79"/>
                    </a:solidFill>
                  </a:tcPr>
                </a:tc>
                <a:tc>
                  <a:txBody>
                    <a:bodyPr/>
                    <a:lstStyle/>
                    <a:p>
                      <a:pPr algn="ctr">
                        <a:defRPr sz="1050" b="1">
                          <a:solidFill>
                            <a:srgbClr val="FFFFFF"/>
                          </a:solidFill>
                        </a:defRPr>
                      </a:pPr>
                      <a:r>
                        <a:t>Chuẩn &lt;15ms</a:t>
                      </a:r>
                    </a:p>
                  </a:txBody>
                  <a:tcPr anchor="ctr">
                    <a:solidFill>
                      <a:srgbClr val="1F4E79"/>
                    </a:solidFill>
                  </a:tcPr>
                </a:tc>
              </a:tr>
              <a:tr h="426720">
                <a:tc>
                  <a:txBody>
                    <a:bodyPr/>
                    <a:lstStyle/>
                    <a:p>
                      <a:pPr algn="l">
                        <a:defRPr sz="1000">
                          <a:solidFill>
                            <a:srgbClr val="282D37"/>
                          </a:solidFill>
                        </a:defRPr>
                      </a:pPr>
                      <a:r>
                        <a:t>1. BM25Okapi (Mặc định)</a:t>
                      </a:r>
                    </a:p>
                  </a:txBody>
                  <a:tcPr anchor="ctr">
                    <a:solidFill>
                      <a:srgbClr val="FFFFFF"/>
                    </a:solidFill>
                  </a:tcPr>
                </a:tc>
                <a:tc>
                  <a:txBody>
                    <a:bodyPr/>
                    <a:lstStyle/>
                    <a:p>
                      <a:pPr algn="ctr">
                        <a:defRPr sz="1000">
                          <a:solidFill>
                            <a:srgbClr val="282D37"/>
                          </a:solidFill>
                        </a:defRPr>
                      </a:pPr>
                      <a:r>
                        <a:t>100.00%</a:t>
                      </a:r>
                    </a:p>
                  </a:txBody>
                  <a:tcPr anchor="ctr">
                    <a:solidFill>
                      <a:srgbClr val="FFFFFF"/>
                    </a:solidFill>
                  </a:tcPr>
                </a:tc>
                <a:tc>
                  <a:txBody>
                    <a:bodyPr/>
                    <a:lstStyle/>
                    <a:p>
                      <a:pPr algn="ctr">
                        <a:defRPr sz="1000">
                          <a:solidFill>
                            <a:srgbClr val="282D37"/>
                          </a:solidFill>
                        </a:defRPr>
                      </a:pPr>
                      <a:r>
                        <a:t>99.04%</a:t>
                      </a:r>
                    </a:p>
                  </a:txBody>
                  <a:tcPr anchor="ctr">
                    <a:solidFill>
                      <a:srgbClr val="FFFFFF"/>
                    </a:solidFill>
                  </a:tcPr>
                </a:tc>
                <a:tc>
                  <a:txBody>
                    <a:bodyPr/>
                    <a:lstStyle/>
                    <a:p>
                      <a:pPr algn="ctr">
                        <a:defRPr sz="1000">
                          <a:solidFill>
                            <a:srgbClr val="282D37"/>
                          </a:solidFill>
                        </a:defRPr>
                      </a:pPr>
                      <a:r>
                        <a:t>0.9808</a:t>
                      </a:r>
                    </a:p>
                  </a:txBody>
                  <a:tcPr anchor="ctr">
                    <a:solidFill>
                      <a:srgbClr val="FFFFFF"/>
                    </a:solidFill>
                  </a:tcPr>
                </a:tc>
                <a:tc>
                  <a:txBody>
                    <a:bodyPr/>
                    <a:lstStyle/>
                    <a:p>
                      <a:pPr algn="ctr">
                        <a:defRPr sz="1000">
                          <a:solidFill>
                            <a:srgbClr val="282D37"/>
                          </a:solidFill>
                        </a:defRPr>
                      </a:pPr>
                      <a:r>
                        <a:t>0.30 ms</a:t>
                      </a:r>
                    </a:p>
                  </a:txBody>
                  <a:tcPr anchor="ctr">
                    <a:solidFill>
                      <a:srgbClr val="FFFFFF"/>
                    </a:solidFill>
                  </a:tcPr>
                </a:tc>
                <a:tc>
                  <a:txBody>
                    <a:bodyPr/>
                    <a:lstStyle/>
                    <a:p>
                      <a:pPr algn="ctr">
                        <a:defRPr sz="1000">
                          <a:solidFill>
                            <a:srgbClr val="282D37"/>
                          </a:solidFill>
                        </a:defRPr>
                      </a:pPr>
                      <a:r>
                        <a:t>0.66 ms</a:t>
                      </a:r>
                    </a:p>
                  </a:txBody>
                  <a:tcPr anchor="ctr">
                    <a:solidFill>
                      <a:srgbClr val="FFFFFF"/>
                    </a:solidFill>
                  </a:tcPr>
                </a:tc>
                <a:tc>
                  <a:txBody>
                    <a:bodyPr/>
                    <a:lstStyle/>
                    <a:p>
                      <a:pPr algn="ctr">
                        <a:defRPr sz="1000">
                          <a:solidFill>
                            <a:srgbClr val="282D37"/>
                          </a:solidFill>
                        </a:defRPr>
                      </a:pPr>
                      <a:r>
                        <a:t>✅ XUẤT SẮC</a:t>
                      </a:r>
                    </a:p>
                  </a:txBody>
                  <a:tcPr anchor="ctr">
                    <a:solidFill>
                      <a:srgbClr val="FFFFFF"/>
                    </a:solidFill>
                  </a:tcPr>
                </a:tc>
              </a:tr>
              <a:tr h="426720">
                <a:tc>
                  <a:txBody>
                    <a:bodyPr/>
                    <a:lstStyle/>
                    <a:p>
                      <a:pPr algn="l">
                        <a:defRPr sz="1000">
                          <a:solidFill>
                            <a:srgbClr val="282D37"/>
                          </a:solidFill>
                        </a:defRPr>
                      </a:pPr>
                      <a:r>
                        <a:t>2. TF-IDF + Cosine (Baseline)</a:t>
                      </a:r>
                    </a:p>
                  </a:txBody>
                  <a:tcPr anchor="ctr">
                    <a:solidFill>
                      <a:srgbClr val="F8FAFC"/>
                    </a:solidFill>
                  </a:tcPr>
                </a:tc>
                <a:tc>
                  <a:txBody>
                    <a:bodyPr/>
                    <a:lstStyle/>
                    <a:p>
                      <a:pPr algn="ctr">
                        <a:defRPr sz="1000">
                          <a:solidFill>
                            <a:srgbClr val="282D37"/>
                          </a:solidFill>
                        </a:defRPr>
                      </a:pPr>
                      <a:r>
                        <a:t>100.00%</a:t>
                      </a:r>
                    </a:p>
                  </a:txBody>
                  <a:tcPr anchor="ctr">
                    <a:solidFill>
                      <a:srgbClr val="F8FAFC"/>
                    </a:solidFill>
                  </a:tcPr>
                </a:tc>
                <a:tc>
                  <a:txBody>
                    <a:bodyPr/>
                    <a:lstStyle/>
                    <a:p>
                      <a:pPr algn="ctr">
                        <a:defRPr sz="1000">
                          <a:solidFill>
                            <a:srgbClr val="282D37"/>
                          </a:solidFill>
                        </a:defRPr>
                      </a:pPr>
                      <a:r>
                        <a:t>99.04%</a:t>
                      </a:r>
                    </a:p>
                  </a:txBody>
                  <a:tcPr anchor="ctr">
                    <a:solidFill>
                      <a:srgbClr val="F8FAFC"/>
                    </a:solidFill>
                  </a:tcPr>
                </a:tc>
                <a:tc>
                  <a:txBody>
                    <a:bodyPr/>
                    <a:lstStyle/>
                    <a:p>
                      <a:pPr algn="ctr">
                        <a:defRPr sz="1000">
                          <a:solidFill>
                            <a:srgbClr val="282D37"/>
                          </a:solidFill>
                        </a:defRPr>
                      </a:pPr>
                      <a:r>
                        <a:t>0.9808</a:t>
                      </a:r>
                    </a:p>
                  </a:txBody>
                  <a:tcPr anchor="ctr">
                    <a:solidFill>
                      <a:srgbClr val="F8FAFC"/>
                    </a:solidFill>
                  </a:tcPr>
                </a:tc>
                <a:tc>
                  <a:txBody>
                    <a:bodyPr/>
                    <a:lstStyle/>
                    <a:p>
                      <a:pPr algn="ctr">
                        <a:defRPr sz="1000">
                          <a:solidFill>
                            <a:srgbClr val="282D37"/>
                          </a:solidFill>
                        </a:defRPr>
                      </a:pPr>
                      <a:r>
                        <a:t>1.13 ms</a:t>
                      </a:r>
                    </a:p>
                  </a:txBody>
                  <a:tcPr anchor="ctr">
                    <a:solidFill>
                      <a:srgbClr val="F8FAFC"/>
                    </a:solidFill>
                  </a:tcPr>
                </a:tc>
                <a:tc>
                  <a:txBody>
                    <a:bodyPr/>
                    <a:lstStyle/>
                    <a:p>
                      <a:pPr algn="ctr">
                        <a:defRPr sz="1000">
                          <a:solidFill>
                            <a:srgbClr val="282D37"/>
                          </a:solidFill>
                        </a:defRPr>
                      </a:pPr>
                      <a:r>
                        <a:t>2.39 ms</a:t>
                      </a:r>
                    </a:p>
                  </a:txBody>
                  <a:tcPr anchor="ctr">
                    <a:solidFill>
                      <a:srgbClr val="F8FAFC"/>
                    </a:solidFill>
                  </a:tcPr>
                </a:tc>
                <a:tc>
                  <a:txBody>
                    <a:bodyPr/>
                    <a:lstStyle/>
                    <a:p>
                      <a:pPr algn="ctr">
                        <a:defRPr sz="1000">
                          <a:solidFill>
                            <a:srgbClr val="282D37"/>
                          </a:solidFill>
                        </a:defRPr>
                      </a:pPr>
                      <a:r>
                        <a:t>✅ ĐẠT</a:t>
                      </a:r>
                    </a:p>
                  </a:txBody>
                  <a:tcPr anchor="ctr">
                    <a:solidFill>
                      <a:srgbClr val="F8FAFC"/>
                    </a:solidFill>
                  </a:tcPr>
                </a:tc>
              </a:tr>
              <a:tr h="426720">
                <a:tc>
                  <a:txBody>
                    <a:bodyPr/>
                    <a:lstStyle/>
                    <a:p>
                      <a:pPr algn="l">
                        <a:defRPr sz="1000">
                          <a:solidFill>
                            <a:srgbClr val="282D37"/>
                          </a:solidFill>
                        </a:defRPr>
                      </a:pPr>
                      <a:r>
                        <a:t>3. Dense (vietnamese-sbert)</a:t>
                      </a:r>
                    </a:p>
                  </a:txBody>
                  <a:tcPr anchor="ctr">
                    <a:solidFill>
                      <a:srgbClr val="FFFFFF"/>
                    </a:solidFill>
                  </a:tcPr>
                </a:tc>
                <a:tc>
                  <a:txBody>
                    <a:bodyPr/>
                    <a:lstStyle/>
                    <a:p>
                      <a:pPr algn="ctr">
                        <a:defRPr sz="1000">
                          <a:solidFill>
                            <a:srgbClr val="282D37"/>
                          </a:solidFill>
                        </a:defRPr>
                      </a:pPr>
                      <a:r>
                        <a:t>86.54%</a:t>
                      </a:r>
                    </a:p>
                  </a:txBody>
                  <a:tcPr anchor="ctr">
                    <a:solidFill>
                      <a:srgbClr val="FFFFFF"/>
                    </a:solidFill>
                  </a:tcPr>
                </a:tc>
                <a:tc>
                  <a:txBody>
                    <a:bodyPr/>
                    <a:lstStyle/>
                    <a:p>
                      <a:pPr algn="ctr">
                        <a:defRPr sz="1000">
                          <a:solidFill>
                            <a:srgbClr val="282D37"/>
                          </a:solidFill>
                        </a:defRPr>
                      </a:pPr>
                      <a:r>
                        <a:t>85.58%</a:t>
                      </a:r>
                    </a:p>
                  </a:txBody>
                  <a:tcPr anchor="ctr">
                    <a:solidFill>
                      <a:srgbClr val="FFFFFF"/>
                    </a:solidFill>
                  </a:tcPr>
                </a:tc>
                <a:tc>
                  <a:txBody>
                    <a:bodyPr/>
                    <a:lstStyle/>
                    <a:p>
                      <a:pPr algn="ctr">
                        <a:defRPr sz="1000">
                          <a:solidFill>
                            <a:srgbClr val="282D37"/>
                          </a:solidFill>
                        </a:defRPr>
                      </a:pPr>
                      <a:r>
                        <a:t>0.8462</a:t>
                      </a:r>
                    </a:p>
                  </a:txBody>
                  <a:tcPr anchor="ctr">
                    <a:solidFill>
                      <a:srgbClr val="FFFFFF"/>
                    </a:solidFill>
                  </a:tcPr>
                </a:tc>
                <a:tc>
                  <a:txBody>
                    <a:bodyPr/>
                    <a:lstStyle/>
                    <a:p>
                      <a:pPr algn="ctr">
                        <a:defRPr sz="1000">
                          <a:solidFill>
                            <a:srgbClr val="282D37"/>
                          </a:solidFill>
                        </a:defRPr>
                      </a:pPr>
                      <a:r>
                        <a:t>83.29 ms</a:t>
                      </a:r>
                    </a:p>
                  </a:txBody>
                  <a:tcPr anchor="ctr">
                    <a:solidFill>
                      <a:srgbClr val="FFFFFF"/>
                    </a:solidFill>
                  </a:tcPr>
                </a:tc>
                <a:tc>
                  <a:txBody>
                    <a:bodyPr/>
                    <a:lstStyle/>
                    <a:p>
                      <a:pPr algn="ctr">
                        <a:defRPr sz="1000">
                          <a:solidFill>
                            <a:srgbClr val="282D37"/>
                          </a:solidFill>
                        </a:defRPr>
                      </a:pPr>
                      <a:r>
                        <a:t>127.92 ms</a:t>
                      </a:r>
                    </a:p>
                  </a:txBody>
                  <a:tcPr anchor="ctr">
                    <a:solidFill>
                      <a:srgbClr val="FFFFFF"/>
                    </a:solidFill>
                  </a:tcPr>
                </a:tc>
                <a:tc>
                  <a:txBody>
                    <a:bodyPr/>
                    <a:lstStyle/>
                    <a:p>
                      <a:pPr algn="ctr">
                        <a:defRPr sz="1000">
                          <a:solidFill>
                            <a:srgbClr val="282D37"/>
                          </a:solidFill>
                        </a:defRPr>
                      </a:pPr>
                      <a:r>
                        <a:t>❌ VƯỢT</a:t>
                      </a:r>
                    </a:p>
                  </a:txBody>
                  <a:tcPr anchor="ctr">
                    <a:solidFill>
                      <a:srgbClr val="FFFFFF"/>
                    </a:solidFill>
                  </a:tcPr>
                </a:tc>
              </a:tr>
              <a:tr h="426720">
                <a:tc>
                  <a:txBody>
                    <a:bodyPr/>
                    <a:lstStyle/>
                    <a:p>
                      <a:pPr algn="l">
                        <a:defRPr sz="1000">
                          <a:solidFill>
                            <a:srgbClr val="282D37"/>
                          </a:solidFill>
                        </a:defRPr>
                      </a:pPr>
                      <a:r>
                        <a:t>4. Hybrid RRF (BM25 + Dense)</a:t>
                      </a:r>
                    </a:p>
                  </a:txBody>
                  <a:tcPr anchor="ctr">
                    <a:solidFill>
                      <a:srgbClr val="F8FAFC"/>
                    </a:solidFill>
                  </a:tcPr>
                </a:tc>
                <a:tc>
                  <a:txBody>
                    <a:bodyPr/>
                    <a:lstStyle/>
                    <a:p>
                      <a:pPr algn="ctr">
                        <a:defRPr sz="1000">
                          <a:solidFill>
                            <a:srgbClr val="282D37"/>
                          </a:solidFill>
                        </a:defRPr>
                      </a:pPr>
                      <a:r>
                        <a:t>96.15%</a:t>
                      </a:r>
                    </a:p>
                  </a:txBody>
                  <a:tcPr anchor="ctr">
                    <a:solidFill>
                      <a:srgbClr val="F8FAFC"/>
                    </a:solidFill>
                  </a:tcPr>
                </a:tc>
                <a:tc>
                  <a:txBody>
                    <a:bodyPr/>
                    <a:lstStyle/>
                    <a:p>
                      <a:pPr algn="ctr">
                        <a:defRPr sz="1000">
                          <a:solidFill>
                            <a:srgbClr val="282D37"/>
                          </a:solidFill>
                        </a:defRPr>
                      </a:pPr>
                      <a:r>
                        <a:t>95.19%</a:t>
                      </a:r>
                    </a:p>
                  </a:txBody>
                  <a:tcPr anchor="ctr">
                    <a:solidFill>
                      <a:srgbClr val="F8FAFC"/>
                    </a:solidFill>
                  </a:tcPr>
                </a:tc>
                <a:tc>
                  <a:txBody>
                    <a:bodyPr/>
                    <a:lstStyle/>
                    <a:p>
                      <a:pPr algn="ctr">
                        <a:defRPr sz="1000">
                          <a:solidFill>
                            <a:srgbClr val="282D37"/>
                          </a:solidFill>
                        </a:defRPr>
                      </a:pPr>
                      <a:r>
                        <a:t>0.9423</a:t>
                      </a:r>
                    </a:p>
                  </a:txBody>
                  <a:tcPr anchor="ctr">
                    <a:solidFill>
                      <a:srgbClr val="F8FAFC"/>
                    </a:solidFill>
                  </a:tcPr>
                </a:tc>
                <a:tc>
                  <a:txBody>
                    <a:bodyPr/>
                    <a:lstStyle/>
                    <a:p>
                      <a:pPr algn="ctr">
                        <a:defRPr sz="1000">
                          <a:solidFill>
                            <a:srgbClr val="282D37"/>
                          </a:solidFill>
                        </a:defRPr>
                      </a:pPr>
                      <a:r>
                        <a:t>85.86 ms</a:t>
                      </a:r>
                    </a:p>
                  </a:txBody>
                  <a:tcPr anchor="ctr">
                    <a:solidFill>
                      <a:srgbClr val="F8FAFC"/>
                    </a:solidFill>
                  </a:tcPr>
                </a:tc>
                <a:tc>
                  <a:txBody>
                    <a:bodyPr/>
                    <a:lstStyle/>
                    <a:p>
                      <a:pPr algn="ctr">
                        <a:defRPr sz="1000">
                          <a:solidFill>
                            <a:srgbClr val="282D37"/>
                          </a:solidFill>
                        </a:defRPr>
                      </a:pPr>
                      <a:r>
                        <a:t>114.71 ms</a:t>
                      </a:r>
                    </a:p>
                  </a:txBody>
                  <a:tcPr anchor="ctr">
                    <a:solidFill>
                      <a:srgbClr val="F8FAFC"/>
                    </a:solidFill>
                  </a:tcPr>
                </a:tc>
                <a:tc>
                  <a:txBody>
                    <a:bodyPr/>
                    <a:lstStyle/>
                    <a:p>
                      <a:pPr algn="ctr">
                        <a:defRPr sz="1000">
                          <a:solidFill>
                            <a:srgbClr val="282D37"/>
                          </a:solidFill>
                        </a:defRPr>
                      </a:pPr>
                      <a:r>
                        <a:t>❌ VƯỢT</a:t>
                      </a:r>
                    </a:p>
                  </a:txBody>
                  <a:tcPr anchor="ctr">
                    <a:solidFill>
                      <a:srgbClr val="F8FAFC"/>
                    </a:solidFill>
                  </a:tcPr>
                </a:tc>
              </a:tr>
              <a:tr h="426720">
                <a:tc>
                  <a:txBody>
                    <a:bodyPr/>
                    <a:lstStyle/>
                    <a:p>
                      <a:pPr algn="l">
                        <a:defRPr sz="1000">
                          <a:solidFill>
                            <a:srgbClr val="282D37"/>
                          </a:solidFill>
                        </a:defRPr>
                      </a:pPr>
                      <a:r>
                        <a:t>5. Cross-Encoder Reranked</a:t>
                      </a:r>
                    </a:p>
                  </a:txBody>
                  <a:tcPr anchor="ctr">
                    <a:solidFill>
                      <a:srgbClr val="FFFFFF"/>
                    </a:solidFill>
                  </a:tcPr>
                </a:tc>
                <a:tc>
                  <a:txBody>
                    <a:bodyPr/>
                    <a:lstStyle/>
                    <a:p>
                      <a:pPr algn="ctr">
                        <a:defRPr sz="1000">
                          <a:solidFill>
                            <a:srgbClr val="282D37"/>
                          </a:solidFill>
                        </a:defRPr>
                      </a:pPr>
                      <a:r>
                        <a:t>98.08%</a:t>
                      </a:r>
                    </a:p>
                  </a:txBody>
                  <a:tcPr anchor="ctr">
                    <a:solidFill>
                      <a:srgbClr val="FFFFFF"/>
                    </a:solidFill>
                  </a:tcPr>
                </a:tc>
                <a:tc>
                  <a:txBody>
                    <a:bodyPr/>
                    <a:lstStyle/>
                    <a:p>
                      <a:pPr algn="ctr">
                        <a:defRPr sz="1000">
                          <a:solidFill>
                            <a:srgbClr val="282D37"/>
                          </a:solidFill>
                        </a:defRPr>
                      </a:pPr>
                      <a:r>
                        <a:t>98.08%</a:t>
                      </a:r>
                    </a:p>
                  </a:txBody>
                  <a:tcPr anchor="ctr">
                    <a:solidFill>
                      <a:srgbClr val="FFFFFF"/>
                    </a:solidFill>
                  </a:tcPr>
                </a:tc>
                <a:tc>
                  <a:txBody>
                    <a:bodyPr/>
                    <a:lstStyle/>
                    <a:p>
                      <a:pPr algn="ctr">
                        <a:defRPr sz="1000">
                          <a:solidFill>
                            <a:srgbClr val="282D37"/>
                          </a:solidFill>
                        </a:defRPr>
                      </a:pPr>
                      <a:r>
                        <a:t>0.9679</a:t>
                      </a:r>
                    </a:p>
                  </a:txBody>
                  <a:tcPr anchor="ctr">
                    <a:solidFill>
                      <a:srgbClr val="FFFFFF"/>
                    </a:solidFill>
                  </a:tcPr>
                </a:tc>
                <a:tc>
                  <a:txBody>
                    <a:bodyPr/>
                    <a:lstStyle/>
                    <a:p>
                      <a:pPr algn="ctr">
                        <a:defRPr sz="1000">
                          <a:solidFill>
                            <a:srgbClr val="282D37"/>
                          </a:solidFill>
                        </a:defRPr>
                      </a:pPr>
                      <a:r>
                        <a:t>2,675 ms</a:t>
                      </a:r>
                    </a:p>
                  </a:txBody>
                  <a:tcPr anchor="ctr">
                    <a:solidFill>
                      <a:srgbClr val="FFFFFF"/>
                    </a:solidFill>
                  </a:tcPr>
                </a:tc>
                <a:tc>
                  <a:txBody>
                    <a:bodyPr/>
                    <a:lstStyle/>
                    <a:p>
                      <a:pPr algn="ctr">
                        <a:defRPr sz="1000">
                          <a:solidFill>
                            <a:srgbClr val="282D37"/>
                          </a:solidFill>
                        </a:defRPr>
                      </a:pPr>
                      <a:r>
                        <a:t>3,773 ms</a:t>
                      </a:r>
                    </a:p>
                  </a:txBody>
                  <a:tcPr anchor="ctr">
                    <a:solidFill>
                      <a:srgbClr val="FFFFFF"/>
                    </a:solidFill>
                  </a:tcPr>
                </a:tc>
                <a:tc>
                  <a:txBody>
                    <a:bodyPr/>
                    <a:lstStyle/>
                    <a:p>
                      <a:pPr algn="ctr">
                        <a:defRPr sz="1000">
                          <a:solidFill>
                            <a:srgbClr val="282D37"/>
                          </a:solidFill>
                        </a:defRPr>
                      </a:pPr>
                      <a:r>
                        <a:t>❌ VƯỢT</a:t>
                      </a:r>
                    </a:p>
                  </a:txBody>
                  <a:tcPr anchor="ctr">
                    <a:solidFill>
                      <a:srgbClr val="FFFFFF"/>
                    </a:solidFill>
                  </a:tcPr>
                </a:tc>
              </a:tr>
            </a:tbl>
          </a:graphicData>
        </a:graphic>
      </p:graphicFrame>
      <p:sp>
        <p:nvSpPr>
          <p:cNvPr id="5" name="Rounded Rectangle 4"/>
          <p:cNvSpPr/>
          <p:nvPr/>
        </p:nvSpPr>
        <p:spPr>
          <a:xfrm>
            <a:off x="731520" y="4297680"/>
            <a:ext cx="10698480" cy="192024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107C41"/>
                </a:solidFill>
              </a:defRPr>
            </a:pPr>
            <a:r>
              <a:t>Quyết định Kiến trúc (Key Architectural Decision)</a:t>
            </a:r>
          </a:p>
          <a:p>
            <a:pPr>
              <a:spcAft>
                <a:spcPts val="400"/>
              </a:spcAft>
              <a:defRPr sz="1100">
                <a:solidFill>
                  <a:srgbClr val="282D37"/>
                </a:solidFill>
              </a:defRPr>
            </a:pPr>
            <a:r>
              <a:t>•  BM25Okapi được chọn làm mặc định cho Production: Đạt Hit Rate@3 = 100%, độ trễ p95 chỉ 0.66 ms trên CPU (vượt xa chỉ tiêu &lt; 15 ms).</a:t>
            </a:r>
          </a:p>
          <a:p>
            <a:pPr>
              <a:spcAft>
                <a:spcPts val="400"/>
              </a:spcAft>
              <a:defRPr sz="1100">
                <a:solidFill>
                  <a:srgbClr val="282D37"/>
                </a:solidFill>
              </a:defRPr>
            </a:pPr>
            <a:r>
              <a:t>•  So sánh hiệu năng: BM25 nhanh hơn Dense 193 lần và nhanh hơn Reranker 5,700 lần trên phần cứng CPU.</a:t>
            </a:r>
          </a:p>
          <a:p>
            <a:pPr>
              <a:spcAft>
                <a:spcPts val="400"/>
              </a:spcAft>
              <a:defRPr sz="1100">
                <a:solidFill>
                  <a:srgbClr val="282D37"/>
                </a:solidFill>
              </a:defRPr>
            </a:pPr>
            <a:r>
              <a:t>•  Kiểm soát an toàn (Policy Guard): Tự động phát hiện và chặn các điều khoản hết hiệu lực (inactive), ép buộc trích dẫn [POL-xxx].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950" b="1">
                <a:solidFill>
                  <a:srgbClr val="2E75B6"/>
                </a:solidFill>
              </a:defRPr>
            </a:pPr>
            <a:r>
              <a:t>AI CUSTOMER SUPPORT COPILOT • MODULE 2 &amp; 3</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F4E79"/>
                </a:solidFill>
              </a:defRPr>
            </a:pPr>
            <a:r>
              <a:t>Module 3: Bài toán Dữ liệu Động &amp; Hai Nút thắt Cũ (Baseline)</a:t>
            </a:r>
          </a:p>
        </p:txBody>
      </p:sp>
      <p:sp>
        <p:nvSpPr>
          <p:cNvPr id="4" name="Rounded Rectangle 3"/>
          <p:cNvSpPr/>
          <p:nvPr/>
        </p:nvSpPr>
        <p:spPr>
          <a:xfrm>
            <a:off x="731520" y="1463040"/>
            <a:ext cx="5120640" cy="475488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C00000"/>
                </a:solidFill>
              </a:defRPr>
            </a:pPr>
            <a:r>
              <a:t>Nút thắt 1: Nghẽn I/O Database File JSON</a:t>
            </a:r>
          </a:p>
          <a:p>
            <a:pPr>
              <a:spcAft>
                <a:spcPts val="400"/>
              </a:spcAft>
              <a:defRPr sz="1100">
                <a:solidFill>
                  <a:srgbClr val="282D37"/>
                </a:solidFill>
              </a:defRPr>
            </a:pPr>
            <a:r>
              <a:t>•  Dữ liệu gốc: 100 đơn hàng Tiki lưu trong mock_orders.json.</a:t>
            </a:r>
          </a:p>
          <a:p>
            <a:pPr>
              <a:spcAft>
                <a:spcPts val="400"/>
              </a:spcAft>
              <a:defRPr sz="1100">
                <a:solidFill>
                  <a:srgbClr val="282D37"/>
                </a:solidFill>
              </a:defRPr>
            </a:pPr>
            <a:r>
              <a:t>•  Cơ chế cũ (Baseline): Mỗi khi có tin nhắn, server phải mở file ổ đĩa, gọi json.loads() giải mã toàn bộ danh sách.</a:t>
            </a:r>
          </a:p>
          <a:p>
            <a:pPr>
              <a:spcAft>
                <a:spcPts val="400"/>
              </a:spcAft>
              <a:defRPr sz="1100">
                <a:solidFill>
                  <a:srgbClr val="282D37"/>
                </a:solidFill>
              </a:defRPr>
            </a:pPr>
            <a:r>
              <a:t>•  Duyệt tuyến tính O(N): Đơn hàng ở cuối danh sách thì phải quét qua 99 đơn phía trước.</a:t>
            </a:r>
          </a:p>
          <a:p>
            <a:pPr>
              <a:spcAft>
                <a:spcPts val="400"/>
              </a:spcAft>
              <a:defRPr sz="1100">
                <a:solidFill>
                  <a:srgbClr val="282D37"/>
                </a:solidFill>
              </a:defRPr>
            </a:pPr>
            <a:r>
              <a:t>•  Hậu quả: Độ trễ p95 đạt 2.1654 ms ➔ Vi phạm chỉ tiêu kỹ thuật (&lt; 2.0 ms), thông lượng chỉ đạt ~1,100 req/s.</a:t>
            </a:r>
          </a:p>
          <a:p>
            <a:pPr>
              <a:spcAft>
                <a:spcPts val="400"/>
              </a:spcAft>
              <a:defRPr sz="1100">
                <a:solidFill>
                  <a:srgbClr val="282D37"/>
                </a:solidFill>
              </a:defRPr>
            </a:pPr>
            <a:r>
              <a:t>•  Không có Transaction: Không thể cập nhật trạng thái đơn (hủy đơn) an toàn.</a:t>
            </a:r>
          </a:p>
        </p:txBody>
      </p:sp>
      <p:sp>
        <p:nvSpPr>
          <p:cNvPr id="5" name="Rounded Rectangle 4"/>
          <p:cNvSpPr/>
          <p:nvPr/>
        </p:nvSpPr>
        <p:spPr>
          <a:xfrm>
            <a:off x="6217920" y="1463040"/>
            <a:ext cx="5120640" cy="475488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C00000"/>
                </a:solidFill>
              </a:defRPr>
            </a:pPr>
            <a:r>
              <a:t>Nút thắt 2: Regex Cứng bỏ sót Thực thể</a:t>
            </a:r>
          </a:p>
          <a:p>
            <a:pPr>
              <a:spcAft>
                <a:spcPts val="400"/>
              </a:spcAft>
              <a:defRPr sz="1100">
                <a:solidFill>
                  <a:srgbClr val="282D37"/>
                </a:solidFill>
              </a:defRPr>
            </a:pPr>
            <a:r>
              <a:t>•  Baseline cũ: Chỉ dùng 1 biểu thức cứng: r'\bORD-[A-Z0-9-]+\b'.</a:t>
            </a:r>
          </a:p>
          <a:p>
            <a:pPr>
              <a:spcAft>
                <a:spcPts val="400"/>
              </a:spcAft>
              <a:defRPr sz="1100">
                <a:solidFill>
                  <a:srgbClr val="282D37"/>
                </a:solidFill>
              </a:defRPr>
            </a:pPr>
            <a:r>
              <a:t>•  Bỏ sót biến thể tiếng lóng: Khách gõ 'đơn 1005', '#1007', 'ord-1004' (chữ thường) ➔ Regex bị mù, Recall tụt còn 62.96%.</a:t>
            </a:r>
          </a:p>
          <a:p>
            <a:pPr>
              <a:spcAft>
                <a:spcPts val="400"/>
              </a:spcAft>
              <a:defRPr sz="1100">
                <a:solidFill>
                  <a:srgbClr val="282D37"/>
                </a:solidFill>
              </a:defRPr>
            </a:pPr>
            <a:r>
              <a:t>•  Bỏ sót 100% Số điện thoại: Khách gõ SĐT '0938.242.854' ➔ Regex hoàn toàn không nhận diện được (Recall = 0.0%).</a:t>
            </a:r>
          </a:p>
          <a:p>
            <a:pPr>
              <a:spcAft>
                <a:spcPts val="400"/>
              </a:spcAft>
              <a:defRPr sz="1100">
                <a:solidFill>
                  <a:srgbClr val="282D37"/>
                </a:solidFill>
              </a:defRPr>
            </a:pPr>
            <a:r>
              <a:t>•  Chỉ trích xuất, không hiểu hành động: Không biết khách muốn hủy hay muốn xem tiến độ giao hàng để gọi Tool xử lý.</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950" b="1">
                <a:solidFill>
                  <a:srgbClr val="2E75B6"/>
                </a:solidFill>
              </a:defRPr>
            </a:pPr>
            <a:r>
              <a:t>AI CUSTOMER SUPPORT COPILOT • MODULE 2 &amp; 3</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F4E79"/>
                </a:solidFill>
              </a:defRPr>
            </a:pPr>
            <a:r>
              <a:t>Module 3: Bốn Trụ cột Kỹ thuật Triển khai</a:t>
            </a:r>
          </a:p>
        </p:txBody>
      </p:sp>
      <p:sp>
        <p:nvSpPr>
          <p:cNvPr id="4" name="Rounded Rectangle 3"/>
          <p:cNvSpPr/>
          <p:nvPr/>
        </p:nvSpPr>
        <p:spPr>
          <a:xfrm>
            <a:off x="731520" y="1463040"/>
            <a:ext cx="5120640" cy="219456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1F4E79"/>
                </a:solidFill>
              </a:defRPr>
            </a:pPr>
            <a:r>
              <a:t>1. CSDL SQLite (B-Tree Indexing)</a:t>
            </a:r>
          </a:p>
          <a:p>
            <a:pPr>
              <a:spcAft>
                <a:spcPts val="400"/>
              </a:spcAft>
              <a:defRPr sz="1100">
                <a:solidFill>
                  <a:srgbClr val="282D37"/>
                </a:solidFill>
              </a:defRPr>
            </a:pPr>
            <a:r>
              <a:t>•  Chuyển 100 đơn hàng vào bảng orders (SQLite WAL Mode).</a:t>
            </a:r>
          </a:p>
          <a:p>
            <a:pPr>
              <a:spcAft>
                <a:spcPts val="400"/>
              </a:spcAft>
              <a:defRPr sz="1100">
                <a:solidFill>
                  <a:srgbClr val="282D37"/>
                </a:solidFill>
              </a:defRPr>
            </a:pPr>
            <a:r>
              <a:t>•  Đánh chỉ mục B-Tree trên: order_id, customer_id, phone, tracking_code, order_status.</a:t>
            </a:r>
          </a:p>
          <a:p>
            <a:pPr>
              <a:spcAft>
                <a:spcPts val="400"/>
              </a:spcAft>
              <a:defRPr sz="1100">
                <a:solidFill>
                  <a:srgbClr val="282D37"/>
                </a:solidFill>
              </a:defRPr>
            </a:pPr>
            <a:r>
              <a:t>•  Giảm độ phức tạp từ O(N) xuống O(log N).</a:t>
            </a:r>
          </a:p>
        </p:txBody>
      </p:sp>
      <p:sp>
        <p:nvSpPr>
          <p:cNvPr id="5" name="Rounded Rectangle 4"/>
          <p:cNvSpPr/>
          <p:nvPr/>
        </p:nvSpPr>
        <p:spPr>
          <a:xfrm>
            <a:off x="6217920" y="1463040"/>
            <a:ext cx="5120640" cy="219456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1F4E79"/>
                </a:solidFill>
              </a:defRPr>
            </a:pPr>
            <a:r>
              <a:t>2. Bộ nhớ đệm 2 tầng (OrderLRUCache)</a:t>
            </a:r>
          </a:p>
          <a:p>
            <a:pPr>
              <a:spcAft>
                <a:spcPts val="400"/>
              </a:spcAft>
              <a:defRPr sz="1100">
                <a:solidFill>
                  <a:srgbClr val="282D37"/>
                </a:solidFill>
              </a:defRPr>
            </a:pPr>
            <a:r>
              <a:t>•  Cache in-memory trên RAM dung lượng 256 mục.</a:t>
            </a:r>
          </a:p>
          <a:p>
            <a:pPr>
              <a:spcAft>
                <a:spcPts val="400"/>
              </a:spcAft>
              <a:defRPr sz="1100">
                <a:solidFill>
                  <a:srgbClr val="282D37"/>
                </a:solidFill>
              </a:defRPr>
            </a:pPr>
            <a:r>
              <a:t>•  Tra cứu O(1) qua 4 khóa: mã đơn, SĐT chuẩn hóa, customer_id, mã vận đơn.</a:t>
            </a:r>
          </a:p>
          <a:p>
            <a:pPr>
              <a:spcAft>
                <a:spcPts val="400"/>
              </a:spcAft>
              <a:defRPr sz="1100">
                <a:solidFill>
                  <a:srgbClr val="282D37"/>
                </a:solidFill>
              </a:defRPr>
            </a:pPr>
            <a:r>
              <a:t>•  Tự động xóa cache (Invalidation) khi đơn bị hủy.</a:t>
            </a:r>
          </a:p>
        </p:txBody>
      </p:sp>
      <p:sp>
        <p:nvSpPr>
          <p:cNvPr id="6" name="Rounded Rectangle 5"/>
          <p:cNvSpPr/>
          <p:nvPr/>
        </p:nvSpPr>
        <p:spPr>
          <a:xfrm>
            <a:off x="731520" y="3931920"/>
            <a:ext cx="5120640" cy="219456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1F4E79"/>
                </a:solidFill>
              </a:defRPr>
            </a:pPr>
            <a:r>
              <a:t>3. Chuẩn hóa 4 Function Tools (JSON Schema)</a:t>
            </a:r>
          </a:p>
          <a:p>
            <a:pPr>
              <a:spcAft>
                <a:spcPts val="400"/>
              </a:spcAft>
              <a:defRPr sz="1100">
                <a:solidFill>
                  <a:srgbClr val="282D37"/>
                </a:solidFill>
              </a:defRPr>
            </a:pPr>
            <a:r>
              <a:t>•  get_order_details(order_id): Xem chi tiết giỏ hàng, số tiền.</a:t>
            </a:r>
          </a:p>
          <a:p>
            <a:pPr>
              <a:spcAft>
                <a:spcPts val="400"/>
              </a:spcAft>
              <a:defRPr sz="1100">
                <a:solidFill>
                  <a:srgbClr val="282D37"/>
                </a:solidFill>
              </a:defRPr>
            </a:pPr>
            <a:r>
              <a:t>•  check_order_status(identifier): Tra cứu bưu tá GHN/Tiki.</a:t>
            </a:r>
          </a:p>
          <a:p>
            <a:pPr>
              <a:spcAft>
                <a:spcPts val="400"/>
              </a:spcAft>
              <a:defRPr sz="1100">
                <a:solidFill>
                  <a:srgbClr val="282D37"/>
                </a:solidFill>
              </a:defRPr>
            </a:pPr>
            <a:r>
              <a:t>•  cancel_order(order_id, reason): Hủy đơn trong CSDL.</a:t>
            </a:r>
          </a:p>
          <a:p>
            <a:pPr>
              <a:spcAft>
                <a:spcPts val="400"/>
              </a:spcAft>
              <a:defRPr sz="1100">
                <a:solidFill>
                  <a:srgbClr val="282D37"/>
                </a:solidFill>
              </a:defRPr>
            </a:pPr>
            <a:r>
              <a:t>•  get_customer_orders(customer_id): Xem lịch sử mua hàng.</a:t>
            </a:r>
          </a:p>
        </p:txBody>
      </p:sp>
      <p:sp>
        <p:nvSpPr>
          <p:cNvPr id="7" name="Rounded Rectangle 6"/>
          <p:cNvSpPr/>
          <p:nvPr/>
        </p:nvSpPr>
        <p:spPr>
          <a:xfrm>
            <a:off x="6217920" y="3931920"/>
            <a:ext cx="5120640" cy="219456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1F4E79"/>
                </a:solidFill>
              </a:defRPr>
            </a:pPr>
            <a:r>
              <a:t>4. ReAct Agent &amp; Multi-Entity Extractor</a:t>
            </a:r>
          </a:p>
          <a:p>
            <a:pPr>
              <a:spcAft>
                <a:spcPts val="400"/>
              </a:spcAft>
              <a:defRPr sz="1100">
                <a:solidFill>
                  <a:srgbClr val="282D37"/>
                </a:solidFill>
              </a:defRPr>
            </a:pPr>
            <a:r>
              <a:t>•  Bóc tách đa thực thể: Chuẩn hóa '#1007' -&gt; 'ORD-1007'.</a:t>
            </a:r>
          </a:p>
          <a:p>
            <a:pPr>
              <a:spcAft>
                <a:spcPts val="400"/>
              </a:spcAft>
              <a:defRPr sz="1100">
                <a:solidFill>
                  <a:srgbClr val="282D37"/>
                </a:solidFill>
              </a:defRPr>
            </a:pPr>
            <a:r>
              <a:t>•  Làm sạch SĐT: '+84938.242.854' -&gt; '0938242854'.</a:t>
            </a:r>
          </a:p>
          <a:p>
            <a:pPr>
              <a:spcAft>
                <a:spcPts val="400"/>
              </a:spcAft>
              <a:defRPr sz="1100">
                <a:solidFill>
                  <a:srgbClr val="282D37"/>
                </a:solidFill>
              </a:defRPr>
            </a:pPr>
            <a:r>
              <a:t>•  Phân loại Action Intent: Tự động quyết định gọi đúng Tool.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950" b="1">
                <a:solidFill>
                  <a:srgbClr val="2E75B6"/>
                </a:solidFill>
              </a:defRPr>
            </a:pPr>
            <a:r>
              <a:t>AI CUSTOMER SUPPORT COPILOT • MODULE 2 &amp; 3</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F4E79"/>
                </a:solidFill>
              </a:defRPr>
            </a:pPr>
            <a:r>
              <a:t>Module 3: Benchmark Độ trễ Database (Mục tiêu: p95 &lt; 2.0 ms)</a:t>
            </a:r>
          </a:p>
        </p:txBody>
      </p:sp>
      <p:graphicFrame>
        <p:nvGraphicFramePr>
          <p:cNvPr id="4" name="Table 3"/>
          <p:cNvGraphicFramePr>
            <a:graphicFrameLocks noGrp="1"/>
          </p:cNvGraphicFramePr>
          <p:nvPr/>
        </p:nvGraphicFramePr>
        <p:xfrm>
          <a:off x="731520" y="1463040"/>
          <a:ext cx="10332720" cy="2286000"/>
        </p:xfrm>
        <a:graphic>
          <a:graphicData uri="http://schemas.openxmlformats.org/drawingml/2006/table">
            <a:tbl>
              <a:tblPr firstRow="1" bandRow="1">
                <a:tableStyleId>{5C22544A-7EE6-4342-B048-85BDC9FD1C3A}</a:tableStyleId>
              </a:tblPr>
              <a:tblGrid>
                <a:gridCol w="2286000"/>
                <a:gridCol w="1371600"/>
                <a:gridCol w="1188720"/>
                <a:gridCol w="1188720"/>
                <a:gridCol w="1188720"/>
                <a:gridCol w="1737360"/>
                <a:gridCol w="1371600"/>
              </a:tblGrid>
              <a:tr h="457200">
                <a:tc>
                  <a:txBody>
                    <a:bodyPr/>
                    <a:lstStyle/>
                    <a:p>
                      <a:pPr algn="ctr">
                        <a:defRPr sz="1050" b="1">
                          <a:solidFill>
                            <a:srgbClr val="FFFFFF"/>
                          </a:solidFill>
                        </a:defRPr>
                      </a:pPr>
                      <a:r>
                        <a:t>Phương pháp Lưu trữ</a:t>
                      </a:r>
                    </a:p>
                  </a:txBody>
                  <a:tcPr anchor="ctr">
                    <a:solidFill>
                      <a:srgbClr val="1F4E79"/>
                    </a:solidFill>
                  </a:tcPr>
                </a:tc>
                <a:tc>
                  <a:txBody>
                    <a:bodyPr/>
                    <a:lstStyle/>
                    <a:p>
                      <a:pPr algn="ctr">
                        <a:defRPr sz="1050" b="1">
                          <a:solidFill>
                            <a:srgbClr val="FFFFFF"/>
                          </a:solidFill>
                        </a:defRPr>
                      </a:pPr>
                      <a:r>
                        <a:t>Độ phức tạp</a:t>
                      </a:r>
                    </a:p>
                  </a:txBody>
                  <a:tcPr anchor="ctr">
                    <a:solidFill>
                      <a:srgbClr val="1F4E79"/>
                    </a:solidFill>
                  </a:tcPr>
                </a:tc>
                <a:tc>
                  <a:txBody>
                    <a:bodyPr/>
                    <a:lstStyle/>
                    <a:p>
                      <a:pPr algn="ctr">
                        <a:defRPr sz="1050" b="1">
                          <a:solidFill>
                            <a:srgbClr val="FFFFFF"/>
                          </a:solidFill>
                        </a:defRPr>
                      </a:pPr>
                      <a:r>
                        <a:t>Độ trễ p50</a:t>
                      </a:r>
                    </a:p>
                  </a:txBody>
                  <a:tcPr anchor="ctr">
                    <a:solidFill>
                      <a:srgbClr val="1F4E79"/>
                    </a:solidFill>
                  </a:tcPr>
                </a:tc>
                <a:tc>
                  <a:txBody>
                    <a:bodyPr/>
                    <a:lstStyle/>
                    <a:p>
                      <a:pPr algn="ctr">
                        <a:defRPr sz="1050" b="1">
                          <a:solidFill>
                            <a:srgbClr val="FFFFFF"/>
                          </a:solidFill>
                        </a:defRPr>
                      </a:pPr>
                      <a:r>
                        <a:t>Độ trễ p90</a:t>
                      </a:r>
                    </a:p>
                  </a:txBody>
                  <a:tcPr anchor="ctr">
                    <a:solidFill>
                      <a:srgbClr val="1F4E79"/>
                    </a:solidFill>
                  </a:tcPr>
                </a:tc>
                <a:tc>
                  <a:txBody>
                    <a:bodyPr/>
                    <a:lstStyle/>
                    <a:p>
                      <a:pPr algn="ctr">
                        <a:defRPr sz="1050" b="1">
                          <a:solidFill>
                            <a:srgbClr val="FFFFFF"/>
                          </a:solidFill>
                        </a:defRPr>
                      </a:pPr>
                      <a:r>
                        <a:t>Độ trễ p95</a:t>
                      </a:r>
                    </a:p>
                  </a:txBody>
                  <a:tcPr anchor="ctr">
                    <a:solidFill>
                      <a:srgbClr val="1F4E79"/>
                    </a:solidFill>
                  </a:tcPr>
                </a:tc>
                <a:tc>
                  <a:txBody>
                    <a:bodyPr/>
                    <a:lstStyle/>
                    <a:p>
                      <a:pPr algn="ctr">
                        <a:defRPr sz="1050" b="1">
                          <a:solidFill>
                            <a:srgbClr val="FFFFFF"/>
                          </a:solidFill>
                        </a:defRPr>
                      </a:pPr>
                      <a:r>
                        <a:t>Thông lượng (QPS)</a:t>
                      </a:r>
                    </a:p>
                  </a:txBody>
                  <a:tcPr anchor="ctr">
                    <a:solidFill>
                      <a:srgbClr val="1F4E79"/>
                    </a:solidFill>
                  </a:tcPr>
                </a:tc>
                <a:tc>
                  <a:txBody>
                    <a:bodyPr/>
                    <a:lstStyle/>
                    <a:p>
                      <a:pPr algn="ctr">
                        <a:defRPr sz="1050" b="1">
                          <a:solidFill>
                            <a:srgbClr val="FFFFFF"/>
                          </a:solidFill>
                        </a:defRPr>
                      </a:pPr>
                      <a:r>
                        <a:t>Đạt &lt; 2ms?</a:t>
                      </a:r>
                    </a:p>
                  </a:txBody>
                  <a:tcPr anchor="ctr">
                    <a:solidFill>
                      <a:srgbClr val="1F4E79"/>
                    </a:solidFill>
                  </a:tcPr>
                </a:tc>
              </a:tr>
              <a:tr h="457200">
                <a:tc>
                  <a:txBody>
                    <a:bodyPr/>
                    <a:lstStyle/>
                    <a:p>
                      <a:pPr algn="l">
                        <a:defRPr sz="1000">
                          <a:solidFill>
                            <a:srgbClr val="282D37"/>
                          </a:solidFill>
                        </a:defRPr>
                      </a:pPr>
                      <a:r>
                        <a:t>1. Baseline JSON Scan</a:t>
                      </a:r>
                    </a:p>
                  </a:txBody>
                  <a:tcPr anchor="ctr">
                    <a:solidFill>
                      <a:srgbClr val="FFFFFF"/>
                    </a:solidFill>
                  </a:tcPr>
                </a:tc>
                <a:tc>
                  <a:txBody>
                    <a:bodyPr/>
                    <a:lstStyle/>
                    <a:p>
                      <a:pPr algn="ctr">
                        <a:defRPr sz="1000">
                          <a:solidFill>
                            <a:srgbClr val="282D37"/>
                          </a:solidFill>
                        </a:defRPr>
                      </a:pPr>
                      <a:r>
                        <a:t>O(N) Disk I/O</a:t>
                      </a:r>
                    </a:p>
                  </a:txBody>
                  <a:tcPr anchor="ctr">
                    <a:solidFill>
                      <a:srgbClr val="FFFFFF"/>
                    </a:solidFill>
                  </a:tcPr>
                </a:tc>
                <a:tc>
                  <a:txBody>
                    <a:bodyPr/>
                    <a:lstStyle/>
                    <a:p>
                      <a:pPr algn="ctr">
                        <a:defRPr sz="1000">
                          <a:solidFill>
                            <a:srgbClr val="282D37"/>
                          </a:solidFill>
                        </a:defRPr>
                      </a:pPr>
                      <a:r>
                        <a:t>0.6916 ms</a:t>
                      </a:r>
                    </a:p>
                  </a:txBody>
                  <a:tcPr anchor="ctr">
                    <a:solidFill>
                      <a:srgbClr val="FFFFFF"/>
                    </a:solidFill>
                  </a:tcPr>
                </a:tc>
                <a:tc>
                  <a:txBody>
                    <a:bodyPr/>
                    <a:lstStyle/>
                    <a:p>
                      <a:pPr algn="ctr">
                        <a:defRPr sz="1000">
                          <a:solidFill>
                            <a:srgbClr val="282D37"/>
                          </a:solidFill>
                        </a:defRPr>
                      </a:pPr>
                      <a:r>
                        <a:t>1.8315 ms</a:t>
                      </a:r>
                    </a:p>
                  </a:txBody>
                  <a:tcPr anchor="ctr">
                    <a:solidFill>
                      <a:srgbClr val="FFFFFF"/>
                    </a:solidFill>
                  </a:tcPr>
                </a:tc>
                <a:tc>
                  <a:txBody>
                    <a:bodyPr/>
                    <a:lstStyle/>
                    <a:p>
                      <a:pPr algn="ctr">
                        <a:defRPr sz="1000">
                          <a:solidFill>
                            <a:srgbClr val="282D37"/>
                          </a:solidFill>
                        </a:defRPr>
                      </a:pPr>
                      <a:r>
                        <a:t>2.1654 ms</a:t>
                      </a:r>
                    </a:p>
                  </a:txBody>
                  <a:tcPr anchor="ctr">
                    <a:solidFill>
                      <a:srgbClr val="FFFFFF"/>
                    </a:solidFill>
                  </a:tcPr>
                </a:tc>
                <a:tc>
                  <a:txBody>
                    <a:bodyPr/>
                    <a:lstStyle/>
                    <a:p>
                      <a:pPr algn="ctr">
                        <a:defRPr sz="1000">
                          <a:solidFill>
                            <a:srgbClr val="282D37"/>
                          </a:solidFill>
                        </a:defRPr>
                      </a:pPr>
                      <a:r>
                        <a:t>1,110 req/s</a:t>
                      </a:r>
                    </a:p>
                  </a:txBody>
                  <a:tcPr anchor="ctr">
                    <a:solidFill>
                      <a:srgbClr val="FFFFFF"/>
                    </a:solidFill>
                  </a:tcPr>
                </a:tc>
                <a:tc>
                  <a:txBody>
                    <a:bodyPr/>
                    <a:lstStyle/>
                    <a:p>
                      <a:pPr algn="ctr">
                        <a:defRPr sz="1000">
                          <a:solidFill>
                            <a:srgbClr val="282D37"/>
                          </a:solidFill>
                        </a:defRPr>
                      </a:pPr>
                      <a:r>
                        <a:t>❌ VƯỢT</a:t>
                      </a:r>
                    </a:p>
                  </a:txBody>
                  <a:tcPr anchor="ctr">
                    <a:solidFill>
                      <a:srgbClr val="FFFFFF"/>
                    </a:solidFill>
                  </a:tcPr>
                </a:tc>
              </a:tr>
              <a:tr h="457200">
                <a:tc>
                  <a:txBody>
                    <a:bodyPr/>
                    <a:lstStyle/>
                    <a:p>
                      <a:pPr algn="l">
                        <a:defRPr sz="1000">
                          <a:solidFill>
                            <a:srgbClr val="282D37"/>
                          </a:solidFill>
                        </a:defRPr>
                      </a:pPr>
                      <a:r>
                        <a:t>2. SQLite Unindexed</a:t>
                      </a:r>
                    </a:p>
                  </a:txBody>
                  <a:tcPr anchor="ctr">
                    <a:solidFill>
                      <a:srgbClr val="F8FAFC"/>
                    </a:solidFill>
                  </a:tcPr>
                </a:tc>
                <a:tc>
                  <a:txBody>
                    <a:bodyPr/>
                    <a:lstStyle/>
                    <a:p>
                      <a:pPr algn="ctr">
                        <a:defRPr sz="1000">
                          <a:solidFill>
                            <a:srgbClr val="282D37"/>
                          </a:solidFill>
                        </a:defRPr>
                      </a:pPr>
                      <a:r>
                        <a:t>O(N) Full Table</a:t>
                      </a:r>
                    </a:p>
                  </a:txBody>
                  <a:tcPr anchor="ctr">
                    <a:solidFill>
                      <a:srgbClr val="F8FAFC"/>
                    </a:solidFill>
                  </a:tcPr>
                </a:tc>
                <a:tc>
                  <a:txBody>
                    <a:bodyPr/>
                    <a:lstStyle/>
                    <a:p>
                      <a:pPr algn="ctr">
                        <a:defRPr sz="1000">
                          <a:solidFill>
                            <a:srgbClr val="282D37"/>
                          </a:solidFill>
                        </a:defRPr>
                      </a:pPr>
                      <a:r>
                        <a:t>0.5712 ms</a:t>
                      </a:r>
                    </a:p>
                  </a:txBody>
                  <a:tcPr anchor="ctr">
                    <a:solidFill>
                      <a:srgbClr val="F8FAFC"/>
                    </a:solidFill>
                  </a:tcPr>
                </a:tc>
                <a:tc>
                  <a:txBody>
                    <a:bodyPr/>
                    <a:lstStyle/>
                    <a:p>
                      <a:pPr algn="ctr">
                        <a:defRPr sz="1000">
                          <a:solidFill>
                            <a:srgbClr val="282D37"/>
                          </a:solidFill>
                        </a:defRPr>
                      </a:pPr>
                      <a:r>
                        <a:t>0.9412 ms</a:t>
                      </a:r>
                    </a:p>
                  </a:txBody>
                  <a:tcPr anchor="ctr">
                    <a:solidFill>
                      <a:srgbClr val="F8FAFC"/>
                    </a:solidFill>
                  </a:tcPr>
                </a:tc>
                <a:tc>
                  <a:txBody>
                    <a:bodyPr/>
                    <a:lstStyle/>
                    <a:p>
                      <a:pPr algn="ctr">
                        <a:defRPr sz="1000">
                          <a:solidFill>
                            <a:srgbClr val="282D37"/>
                          </a:solidFill>
                        </a:defRPr>
                      </a:pPr>
                      <a:r>
                        <a:t>1.1105 ms</a:t>
                      </a:r>
                    </a:p>
                  </a:txBody>
                  <a:tcPr anchor="ctr">
                    <a:solidFill>
                      <a:srgbClr val="F8FAFC"/>
                    </a:solidFill>
                  </a:tcPr>
                </a:tc>
                <a:tc>
                  <a:txBody>
                    <a:bodyPr/>
                    <a:lstStyle/>
                    <a:p>
                      <a:pPr algn="ctr">
                        <a:defRPr sz="1000">
                          <a:solidFill>
                            <a:srgbClr val="282D37"/>
                          </a:solidFill>
                        </a:defRPr>
                      </a:pPr>
                      <a:r>
                        <a:t>1,518 req/s</a:t>
                      </a:r>
                    </a:p>
                  </a:txBody>
                  <a:tcPr anchor="ctr">
                    <a:solidFill>
                      <a:srgbClr val="F8FAFC"/>
                    </a:solidFill>
                  </a:tcPr>
                </a:tc>
                <a:tc>
                  <a:txBody>
                    <a:bodyPr/>
                    <a:lstStyle/>
                    <a:p>
                      <a:pPr algn="ctr">
                        <a:defRPr sz="1000">
                          <a:solidFill>
                            <a:srgbClr val="282D37"/>
                          </a:solidFill>
                        </a:defRPr>
                      </a:pPr>
                      <a:r>
                        <a:t>✅ ĐẠT</a:t>
                      </a:r>
                    </a:p>
                  </a:txBody>
                  <a:tcPr anchor="ctr">
                    <a:solidFill>
                      <a:srgbClr val="F8FAFC"/>
                    </a:solidFill>
                  </a:tcPr>
                </a:tc>
              </a:tr>
              <a:tr h="457200">
                <a:tc>
                  <a:txBody>
                    <a:bodyPr/>
                    <a:lstStyle/>
                    <a:p>
                      <a:pPr algn="l">
                        <a:defRPr sz="1000">
                          <a:solidFill>
                            <a:srgbClr val="282D37"/>
                          </a:solidFill>
                        </a:defRPr>
                      </a:pPr>
                      <a:r>
                        <a:t>3. SQLite Indexed</a:t>
                      </a:r>
                    </a:p>
                  </a:txBody>
                  <a:tcPr anchor="ctr">
                    <a:solidFill>
                      <a:srgbClr val="FFFFFF"/>
                    </a:solidFill>
                  </a:tcPr>
                </a:tc>
                <a:tc>
                  <a:txBody>
                    <a:bodyPr/>
                    <a:lstStyle/>
                    <a:p>
                      <a:pPr algn="ctr">
                        <a:defRPr sz="1000">
                          <a:solidFill>
                            <a:srgbClr val="282D37"/>
                          </a:solidFill>
                        </a:defRPr>
                      </a:pPr>
                      <a:r>
                        <a:t>O(log N) B-Tree</a:t>
                      </a:r>
                    </a:p>
                  </a:txBody>
                  <a:tcPr anchor="ctr">
                    <a:solidFill>
                      <a:srgbClr val="FFFFFF"/>
                    </a:solidFill>
                  </a:tcPr>
                </a:tc>
                <a:tc>
                  <a:txBody>
                    <a:bodyPr/>
                    <a:lstStyle/>
                    <a:p>
                      <a:pPr algn="ctr">
                        <a:defRPr sz="1000">
                          <a:solidFill>
                            <a:srgbClr val="282D37"/>
                          </a:solidFill>
                        </a:defRPr>
                      </a:pPr>
                      <a:r>
                        <a:t>0.5236 ms</a:t>
                      </a:r>
                    </a:p>
                  </a:txBody>
                  <a:tcPr anchor="ctr">
                    <a:solidFill>
                      <a:srgbClr val="FFFFFF"/>
                    </a:solidFill>
                  </a:tcPr>
                </a:tc>
                <a:tc>
                  <a:txBody>
                    <a:bodyPr/>
                    <a:lstStyle/>
                    <a:p>
                      <a:pPr algn="ctr">
                        <a:defRPr sz="1000">
                          <a:solidFill>
                            <a:srgbClr val="282D37"/>
                          </a:solidFill>
                        </a:defRPr>
                      </a:pPr>
                      <a:r>
                        <a:t>0.7410 ms</a:t>
                      </a:r>
                    </a:p>
                  </a:txBody>
                  <a:tcPr anchor="ctr">
                    <a:solidFill>
                      <a:srgbClr val="FFFFFF"/>
                    </a:solidFill>
                  </a:tcPr>
                </a:tc>
                <a:tc>
                  <a:txBody>
                    <a:bodyPr/>
                    <a:lstStyle/>
                    <a:p>
                      <a:pPr algn="ctr">
                        <a:defRPr sz="1000">
                          <a:solidFill>
                            <a:srgbClr val="282D37"/>
                          </a:solidFill>
                        </a:defRPr>
                      </a:pPr>
                      <a:r>
                        <a:t>0.8473 ms</a:t>
                      </a:r>
                    </a:p>
                  </a:txBody>
                  <a:tcPr anchor="ctr">
                    <a:solidFill>
                      <a:srgbClr val="FFFFFF"/>
                    </a:solidFill>
                  </a:tcPr>
                </a:tc>
                <a:tc>
                  <a:txBody>
                    <a:bodyPr/>
                    <a:lstStyle/>
                    <a:p>
                      <a:pPr algn="ctr">
                        <a:defRPr sz="1000">
                          <a:solidFill>
                            <a:srgbClr val="282D37"/>
                          </a:solidFill>
                        </a:defRPr>
                      </a:pPr>
                      <a:r>
                        <a:t>1,738 req/s</a:t>
                      </a:r>
                    </a:p>
                  </a:txBody>
                  <a:tcPr anchor="ctr">
                    <a:solidFill>
                      <a:srgbClr val="FFFFFF"/>
                    </a:solidFill>
                  </a:tcPr>
                </a:tc>
                <a:tc>
                  <a:txBody>
                    <a:bodyPr/>
                    <a:lstStyle/>
                    <a:p>
                      <a:pPr algn="ctr">
                        <a:defRPr sz="1000">
                          <a:solidFill>
                            <a:srgbClr val="282D37"/>
                          </a:solidFill>
                        </a:defRPr>
                      </a:pPr>
                      <a:r>
                        <a:t>✅ ĐẠT</a:t>
                      </a:r>
                    </a:p>
                  </a:txBody>
                  <a:tcPr anchor="ctr">
                    <a:solidFill>
                      <a:srgbClr val="FFFFFF"/>
                    </a:solidFill>
                  </a:tcPr>
                </a:tc>
              </a:tr>
              <a:tr h="457200">
                <a:tc>
                  <a:txBody>
                    <a:bodyPr/>
                    <a:lstStyle/>
                    <a:p>
                      <a:pPr algn="l">
                        <a:defRPr sz="1000">
                          <a:solidFill>
                            <a:srgbClr val="282D37"/>
                          </a:solidFill>
                        </a:defRPr>
                      </a:pPr>
                      <a:r>
                        <a:t>4. SQLite + LRU Cache</a:t>
                      </a:r>
                    </a:p>
                  </a:txBody>
                  <a:tcPr anchor="ctr">
                    <a:solidFill>
                      <a:srgbClr val="F8FAFC"/>
                    </a:solidFill>
                  </a:tcPr>
                </a:tc>
                <a:tc>
                  <a:txBody>
                    <a:bodyPr/>
                    <a:lstStyle/>
                    <a:p>
                      <a:pPr algn="ctr">
                        <a:defRPr sz="1000">
                          <a:solidFill>
                            <a:srgbClr val="282D37"/>
                          </a:solidFill>
                        </a:defRPr>
                      </a:pPr>
                      <a:r>
                        <a:t>O(1) In-Memory</a:t>
                      </a:r>
                    </a:p>
                  </a:txBody>
                  <a:tcPr anchor="ctr">
                    <a:solidFill>
                      <a:srgbClr val="F8FAFC"/>
                    </a:solidFill>
                  </a:tcPr>
                </a:tc>
                <a:tc>
                  <a:txBody>
                    <a:bodyPr/>
                    <a:lstStyle/>
                    <a:p>
                      <a:pPr algn="ctr">
                        <a:defRPr sz="1000">
                          <a:solidFill>
                            <a:srgbClr val="282D37"/>
                          </a:solidFill>
                        </a:defRPr>
                      </a:pPr>
                      <a:r>
                        <a:t>0.0176 ms</a:t>
                      </a:r>
                    </a:p>
                  </a:txBody>
                  <a:tcPr anchor="ctr">
                    <a:solidFill>
                      <a:srgbClr val="F8FAFC"/>
                    </a:solidFill>
                  </a:tcPr>
                </a:tc>
                <a:tc>
                  <a:txBody>
                    <a:bodyPr/>
                    <a:lstStyle/>
                    <a:p>
                      <a:pPr algn="ctr">
                        <a:defRPr sz="1000">
                          <a:solidFill>
                            <a:srgbClr val="282D37"/>
                          </a:solidFill>
                        </a:defRPr>
                      </a:pPr>
                      <a:r>
                        <a:t>0.0210 ms</a:t>
                      </a:r>
                    </a:p>
                  </a:txBody>
                  <a:tcPr anchor="ctr">
                    <a:solidFill>
                      <a:srgbClr val="F8FAFC"/>
                    </a:solidFill>
                  </a:tcPr>
                </a:tc>
                <a:tc>
                  <a:txBody>
                    <a:bodyPr/>
                    <a:lstStyle/>
                    <a:p>
                      <a:pPr algn="ctr">
                        <a:defRPr sz="1000">
                          <a:solidFill>
                            <a:srgbClr val="282D37"/>
                          </a:solidFill>
                        </a:defRPr>
                      </a:pPr>
                      <a:r>
                        <a:t>0.5499 ms</a:t>
                      </a:r>
                    </a:p>
                  </a:txBody>
                  <a:tcPr anchor="ctr">
                    <a:solidFill>
                      <a:srgbClr val="F8FAFC"/>
                    </a:solidFill>
                  </a:tcPr>
                </a:tc>
                <a:tc>
                  <a:txBody>
                    <a:bodyPr/>
                    <a:lstStyle/>
                    <a:p>
                      <a:pPr algn="ctr">
                        <a:defRPr sz="1000">
                          <a:solidFill>
                            <a:srgbClr val="282D37"/>
                          </a:solidFill>
                        </a:defRPr>
                      </a:pPr>
                      <a:r>
                        <a:t>11,532 req/s</a:t>
                      </a:r>
                    </a:p>
                  </a:txBody>
                  <a:tcPr anchor="ctr">
                    <a:solidFill>
                      <a:srgbClr val="F8FAFC"/>
                    </a:solidFill>
                  </a:tcPr>
                </a:tc>
                <a:tc>
                  <a:txBody>
                    <a:bodyPr/>
                    <a:lstStyle/>
                    <a:p>
                      <a:pPr algn="ctr">
                        <a:defRPr sz="1000">
                          <a:solidFill>
                            <a:srgbClr val="282D37"/>
                          </a:solidFill>
                        </a:defRPr>
                      </a:pPr>
                      <a:r>
                        <a:t>✅ XUẤT SẮC</a:t>
                      </a:r>
                    </a:p>
                  </a:txBody>
                  <a:tcPr anchor="ctr">
                    <a:solidFill>
                      <a:srgbClr val="F8FAFC"/>
                    </a:solidFill>
                  </a:tcPr>
                </a:tc>
              </a:tr>
            </a:tbl>
          </a:graphicData>
        </a:graphic>
      </p:graphicFrame>
      <p:sp>
        <p:nvSpPr>
          <p:cNvPr id="5" name="Rounded Rectangle 4"/>
          <p:cNvSpPr/>
          <p:nvPr/>
        </p:nvSpPr>
        <p:spPr>
          <a:xfrm>
            <a:off x="731520" y="4023360"/>
            <a:ext cx="10698480" cy="219456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107C41"/>
                </a:solidFill>
              </a:defRPr>
            </a:pPr>
            <a:r>
              <a:t>Phân tích Bản chất Kỹ thuật</a:t>
            </a:r>
          </a:p>
          <a:p>
            <a:pPr>
              <a:spcAft>
                <a:spcPts val="400"/>
              </a:spcAft>
              <a:defRPr sz="1100">
                <a:solidFill>
                  <a:srgbClr val="282D37"/>
                </a:solidFill>
              </a:defRPr>
            </a:pPr>
            <a:r>
              <a:t>•  Vì sao CSDL chỉ đo Latency &amp; QPS mà không đo 'chất lượng'? Vì truy vấn CSDL là phép toán xác định 100% (tìm ORD-1001 ở đâu cũng trả về đúng dữ liệu đó). Tiêu chí cạnh tranh duy nhất là độ trễ và khả năng chịu tải.</a:t>
            </a:r>
          </a:p>
          <a:p>
            <a:pPr>
              <a:spcAft>
                <a:spcPts val="400"/>
              </a:spcAft>
              <a:defRPr sz="1100">
                <a:solidFill>
                  <a:srgbClr val="282D37"/>
                </a:solidFill>
              </a:defRPr>
            </a:pPr>
            <a:r>
              <a:t>•  SQLite Indexed: Nhờ cấu trúc B-Tree, độ trễ p95 giảm 61% (xuống 0.85 ms), đáp ứng hoàn hảo KPI thiết kế.</a:t>
            </a:r>
          </a:p>
          <a:p>
            <a:pPr>
              <a:spcAft>
                <a:spcPts val="400"/>
              </a:spcAft>
              <a:defRPr sz="1100">
                <a:solidFill>
                  <a:srgbClr val="282D37"/>
                </a:solidFill>
              </a:defRPr>
            </a:pPr>
            <a:r>
              <a:t>•  SQLite + LRU Cache: Tốc độ đọc RAM vượt trội giúp độ trễ trung bình chỉ còn 0.017 ms (17 micro-giây) và tăng thông lượng gấp 10.4 lần (đạt 11,532 truy vấn/giây).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950" b="1">
                <a:solidFill>
                  <a:srgbClr val="2E75B6"/>
                </a:solidFill>
              </a:defRPr>
            </a:pPr>
            <a:r>
              <a:t>AI CUSTOMER SUPPORT COPILOT • MODULE 2 &amp; 3</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F4E79"/>
                </a:solidFill>
              </a:defRPr>
            </a:pPr>
            <a:r>
              <a:t>Module 3: Benchmark Trích xuất Thực thể &amp; Nhận diện Tool Intent</a:t>
            </a:r>
          </a:p>
        </p:txBody>
      </p:sp>
      <p:graphicFrame>
        <p:nvGraphicFramePr>
          <p:cNvPr id="4" name="Table 3"/>
          <p:cNvGraphicFramePr>
            <a:graphicFrameLocks noGrp="1"/>
          </p:cNvGraphicFramePr>
          <p:nvPr/>
        </p:nvGraphicFramePr>
        <p:xfrm>
          <a:off x="731520" y="1463040"/>
          <a:ext cx="10332720" cy="2651760"/>
        </p:xfrm>
        <a:graphic>
          <a:graphicData uri="http://schemas.openxmlformats.org/drawingml/2006/table">
            <a:tbl>
              <a:tblPr firstRow="1" bandRow="1">
                <a:tableStyleId>{5C22544A-7EE6-4342-B048-85BDC9FD1C3A}</a:tableStyleId>
              </a:tblPr>
              <a:tblGrid>
                <a:gridCol w="2560320"/>
                <a:gridCol w="1188720"/>
                <a:gridCol w="1188720"/>
                <a:gridCol w="1280160"/>
                <a:gridCol w="4114800"/>
              </a:tblGrid>
              <a:tr h="441960">
                <a:tc>
                  <a:txBody>
                    <a:bodyPr/>
                    <a:lstStyle/>
                    <a:p>
                      <a:pPr algn="ctr">
                        <a:defRPr sz="1050" b="1">
                          <a:solidFill>
                            <a:srgbClr val="FFFFFF"/>
                          </a:solidFill>
                        </a:defRPr>
                      </a:pPr>
                      <a:r>
                        <a:t>Thành phần &amp; Thuật toán</a:t>
                      </a:r>
                    </a:p>
                  </a:txBody>
                  <a:tcPr anchor="ctr">
                    <a:solidFill>
                      <a:srgbClr val="1F4E79"/>
                    </a:solidFill>
                  </a:tcPr>
                </a:tc>
                <a:tc>
                  <a:txBody>
                    <a:bodyPr/>
                    <a:lstStyle/>
                    <a:p>
                      <a:pPr algn="ctr">
                        <a:defRPr sz="1050" b="1">
                          <a:solidFill>
                            <a:srgbClr val="FFFFFF"/>
                          </a:solidFill>
                        </a:defRPr>
                      </a:pPr>
                      <a:r>
                        <a:t>Precision</a:t>
                      </a:r>
                    </a:p>
                  </a:txBody>
                  <a:tcPr anchor="ctr">
                    <a:solidFill>
                      <a:srgbClr val="1F4E79"/>
                    </a:solidFill>
                  </a:tcPr>
                </a:tc>
                <a:tc>
                  <a:txBody>
                    <a:bodyPr/>
                    <a:lstStyle/>
                    <a:p>
                      <a:pPr algn="ctr">
                        <a:defRPr sz="1050" b="1">
                          <a:solidFill>
                            <a:srgbClr val="FFFFFF"/>
                          </a:solidFill>
                        </a:defRPr>
                      </a:pPr>
                      <a:r>
                        <a:t>Recall</a:t>
                      </a:r>
                    </a:p>
                  </a:txBody>
                  <a:tcPr anchor="ctr">
                    <a:solidFill>
                      <a:srgbClr val="1F4E79"/>
                    </a:solidFill>
                  </a:tcPr>
                </a:tc>
                <a:tc>
                  <a:txBody>
                    <a:bodyPr/>
                    <a:lstStyle/>
                    <a:p>
                      <a:pPr algn="ctr">
                        <a:defRPr sz="1050" b="1">
                          <a:solidFill>
                            <a:srgbClr val="FFFFFF"/>
                          </a:solidFill>
                        </a:defRPr>
                      </a:pPr>
                      <a:r>
                        <a:t>F1-Score</a:t>
                      </a:r>
                    </a:p>
                  </a:txBody>
                  <a:tcPr anchor="ctr">
                    <a:solidFill>
                      <a:srgbClr val="1F4E79"/>
                    </a:solidFill>
                  </a:tcPr>
                </a:tc>
                <a:tc>
                  <a:txBody>
                    <a:bodyPr/>
                    <a:lstStyle/>
                    <a:p>
                      <a:pPr algn="ctr">
                        <a:defRPr sz="1050" b="1">
                          <a:solidFill>
                            <a:srgbClr val="FFFFFF"/>
                          </a:solidFill>
                        </a:defRPr>
                      </a:pPr>
                      <a:r>
                        <a:t>Ghi chú &amp; Phân tích</a:t>
                      </a:r>
                    </a:p>
                  </a:txBody>
                  <a:tcPr anchor="ctr">
                    <a:solidFill>
                      <a:srgbClr val="1F4E79"/>
                    </a:solidFill>
                  </a:tcPr>
                </a:tc>
              </a:tr>
              <a:tr h="441960">
                <a:tc>
                  <a:txBody>
                    <a:bodyPr/>
                    <a:lstStyle/>
                    <a:p>
                      <a:pPr algn="l">
                        <a:defRPr sz="1000">
                          <a:solidFill>
                            <a:srgbClr val="282D37"/>
                          </a:solidFill>
                        </a:defRPr>
                      </a:pPr>
                      <a:r>
                        <a:t>Baseline Regex (Mã đơn hàng)</a:t>
                      </a:r>
                    </a:p>
                  </a:txBody>
                  <a:tcPr anchor="ctr">
                    <a:solidFill>
                      <a:srgbClr val="FFFFFF"/>
                    </a:solidFill>
                  </a:tcPr>
                </a:tc>
                <a:tc>
                  <a:txBody>
                    <a:bodyPr/>
                    <a:lstStyle/>
                    <a:p>
                      <a:pPr algn="ctr">
                        <a:defRPr sz="1000">
                          <a:solidFill>
                            <a:srgbClr val="282D37"/>
                          </a:solidFill>
                        </a:defRPr>
                      </a:pPr>
                      <a:r>
                        <a:t>100.00%</a:t>
                      </a:r>
                    </a:p>
                  </a:txBody>
                  <a:tcPr anchor="ctr">
                    <a:solidFill>
                      <a:srgbClr val="FFFFFF"/>
                    </a:solidFill>
                  </a:tcPr>
                </a:tc>
                <a:tc>
                  <a:txBody>
                    <a:bodyPr/>
                    <a:lstStyle/>
                    <a:p>
                      <a:pPr algn="ctr">
                        <a:defRPr sz="1000">
                          <a:solidFill>
                            <a:srgbClr val="282D37"/>
                          </a:solidFill>
                        </a:defRPr>
                      </a:pPr>
                      <a:r>
                        <a:t>62.96%</a:t>
                      </a:r>
                    </a:p>
                  </a:txBody>
                  <a:tcPr anchor="ctr">
                    <a:solidFill>
                      <a:srgbClr val="FFFFFF"/>
                    </a:solidFill>
                  </a:tcPr>
                </a:tc>
                <a:tc>
                  <a:txBody>
                    <a:bodyPr/>
                    <a:lstStyle/>
                    <a:p>
                      <a:pPr algn="ctr">
                        <a:defRPr sz="1000">
                          <a:solidFill>
                            <a:srgbClr val="282D37"/>
                          </a:solidFill>
                        </a:defRPr>
                      </a:pPr>
                      <a:r>
                        <a:t>77.27%</a:t>
                      </a:r>
                    </a:p>
                  </a:txBody>
                  <a:tcPr anchor="ctr">
                    <a:solidFill>
                      <a:srgbClr val="FFFFFF"/>
                    </a:solidFill>
                  </a:tcPr>
                </a:tc>
                <a:tc>
                  <a:txBody>
                    <a:bodyPr/>
                    <a:lstStyle/>
                    <a:p>
                      <a:pPr algn="ctr">
                        <a:defRPr sz="1000">
                          <a:solidFill>
                            <a:srgbClr val="282D37"/>
                          </a:solidFill>
                        </a:defRPr>
                      </a:pPr>
                      <a:r>
                        <a:t>Bỏ sót 37% mã viết tắt, '#1007', 'đơn 1005'</a:t>
                      </a:r>
                    </a:p>
                  </a:txBody>
                  <a:tcPr anchor="ctr">
                    <a:solidFill>
                      <a:srgbClr val="FFFFFF"/>
                    </a:solidFill>
                  </a:tcPr>
                </a:tc>
              </a:tr>
              <a:tr h="441960">
                <a:tc>
                  <a:txBody>
                    <a:bodyPr/>
                    <a:lstStyle/>
                    <a:p>
                      <a:pPr algn="l">
                        <a:defRPr sz="1000">
                          <a:solidFill>
                            <a:srgbClr val="282D37"/>
                          </a:solidFill>
                        </a:defRPr>
                      </a:pPr>
                      <a:r>
                        <a:t>Advanced ReAct (Mã đơn hàng)</a:t>
                      </a:r>
                    </a:p>
                  </a:txBody>
                  <a:tcPr anchor="ctr">
                    <a:solidFill>
                      <a:srgbClr val="F8FAFC"/>
                    </a:solidFill>
                  </a:tcPr>
                </a:tc>
                <a:tc>
                  <a:txBody>
                    <a:bodyPr/>
                    <a:lstStyle/>
                    <a:p>
                      <a:pPr algn="ctr">
                        <a:defRPr sz="1000">
                          <a:solidFill>
                            <a:srgbClr val="282D37"/>
                          </a:solidFill>
                        </a:defRPr>
                      </a:pPr>
                      <a:r>
                        <a:t>100.00%</a:t>
                      </a:r>
                    </a:p>
                  </a:txBody>
                  <a:tcPr anchor="ctr">
                    <a:solidFill>
                      <a:srgbClr val="F8FAFC"/>
                    </a:solidFill>
                  </a:tcPr>
                </a:tc>
                <a:tc>
                  <a:txBody>
                    <a:bodyPr/>
                    <a:lstStyle/>
                    <a:p>
                      <a:pPr algn="ctr">
                        <a:defRPr sz="1000">
                          <a:solidFill>
                            <a:srgbClr val="282D37"/>
                          </a:solidFill>
                        </a:defRPr>
                      </a:pPr>
                      <a:r>
                        <a:t>100.00%</a:t>
                      </a:r>
                    </a:p>
                  </a:txBody>
                  <a:tcPr anchor="ctr">
                    <a:solidFill>
                      <a:srgbClr val="F8FAFC"/>
                    </a:solidFill>
                  </a:tcPr>
                </a:tc>
                <a:tc>
                  <a:txBody>
                    <a:bodyPr/>
                    <a:lstStyle/>
                    <a:p>
                      <a:pPr algn="ctr">
                        <a:defRPr sz="1000">
                          <a:solidFill>
                            <a:srgbClr val="282D37"/>
                          </a:solidFill>
                        </a:defRPr>
                      </a:pPr>
                      <a:r>
                        <a:t>100.00%</a:t>
                      </a:r>
                    </a:p>
                  </a:txBody>
                  <a:tcPr anchor="ctr">
                    <a:solidFill>
                      <a:srgbClr val="F8FAFC"/>
                    </a:solidFill>
                  </a:tcPr>
                </a:tc>
                <a:tc>
                  <a:txBody>
                    <a:bodyPr/>
                    <a:lstStyle/>
                    <a:p>
                      <a:pPr algn="ctr">
                        <a:defRPr sz="1000">
                          <a:solidFill>
                            <a:srgbClr val="282D37"/>
                          </a:solidFill>
                        </a:defRPr>
                      </a:pPr>
                      <a:r>
                        <a:t>Bắt trúng 100% mọi biến thể cú pháp tự nhiên</a:t>
                      </a:r>
                    </a:p>
                  </a:txBody>
                  <a:tcPr anchor="ctr">
                    <a:solidFill>
                      <a:srgbClr val="F8FAFC"/>
                    </a:solidFill>
                  </a:tcPr>
                </a:tc>
              </a:tr>
              <a:tr h="441960">
                <a:tc>
                  <a:txBody>
                    <a:bodyPr/>
                    <a:lstStyle/>
                    <a:p>
                      <a:pPr algn="l">
                        <a:defRPr sz="1000">
                          <a:solidFill>
                            <a:srgbClr val="282D37"/>
                          </a:solidFill>
                        </a:defRPr>
                      </a:pPr>
                      <a:r>
                        <a:t>Baseline Regex (Số điện thoại)</a:t>
                      </a:r>
                    </a:p>
                  </a:txBody>
                  <a:tcPr anchor="ctr">
                    <a:solidFill>
                      <a:srgbClr val="FFFFFF"/>
                    </a:solidFill>
                  </a:tcPr>
                </a:tc>
                <a:tc>
                  <a:txBody>
                    <a:bodyPr/>
                    <a:lstStyle/>
                    <a:p>
                      <a:pPr algn="ctr">
                        <a:defRPr sz="1000">
                          <a:solidFill>
                            <a:srgbClr val="282D37"/>
                          </a:solidFill>
                        </a:defRPr>
                      </a:pPr>
                      <a:r>
                        <a:t>0.00%</a:t>
                      </a:r>
                    </a:p>
                  </a:txBody>
                  <a:tcPr anchor="ctr">
                    <a:solidFill>
                      <a:srgbClr val="FFFFFF"/>
                    </a:solidFill>
                  </a:tcPr>
                </a:tc>
                <a:tc>
                  <a:txBody>
                    <a:bodyPr/>
                    <a:lstStyle/>
                    <a:p>
                      <a:pPr algn="ctr">
                        <a:defRPr sz="1000">
                          <a:solidFill>
                            <a:srgbClr val="282D37"/>
                          </a:solidFill>
                        </a:defRPr>
                      </a:pPr>
                      <a:r>
                        <a:t>0.00%</a:t>
                      </a:r>
                    </a:p>
                  </a:txBody>
                  <a:tcPr anchor="ctr">
                    <a:solidFill>
                      <a:srgbClr val="FFFFFF"/>
                    </a:solidFill>
                  </a:tcPr>
                </a:tc>
                <a:tc>
                  <a:txBody>
                    <a:bodyPr/>
                    <a:lstStyle/>
                    <a:p>
                      <a:pPr algn="ctr">
                        <a:defRPr sz="1000">
                          <a:solidFill>
                            <a:srgbClr val="282D37"/>
                          </a:solidFill>
                        </a:defRPr>
                      </a:pPr>
                      <a:r>
                        <a:t>0.00%</a:t>
                      </a:r>
                    </a:p>
                  </a:txBody>
                  <a:tcPr anchor="ctr">
                    <a:solidFill>
                      <a:srgbClr val="FFFFFF"/>
                    </a:solidFill>
                  </a:tcPr>
                </a:tc>
                <a:tc>
                  <a:txBody>
                    <a:bodyPr/>
                    <a:lstStyle/>
                    <a:p>
                      <a:pPr algn="ctr">
                        <a:defRPr sz="1000">
                          <a:solidFill>
                            <a:srgbClr val="282D37"/>
                          </a:solidFill>
                        </a:defRPr>
                      </a:pPr>
                      <a:r>
                        <a:t>Hoàn toàn không hỗ trợ nhận diện SĐT</a:t>
                      </a:r>
                    </a:p>
                  </a:txBody>
                  <a:tcPr anchor="ctr">
                    <a:solidFill>
                      <a:srgbClr val="FFFFFF"/>
                    </a:solidFill>
                  </a:tcPr>
                </a:tc>
              </a:tr>
              <a:tr h="441960">
                <a:tc>
                  <a:txBody>
                    <a:bodyPr/>
                    <a:lstStyle/>
                    <a:p>
                      <a:pPr algn="l">
                        <a:defRPr sz="1000">
                          <a:solidFill>
                            <a:srgbClr val="282D37"/>
                          </a:solidFill>
                        </a:defRPr>
                      </a:pPr>
                      <a:r>
                        <a:t>Advanced ReAct (Số điện thoại)</a:t>
                      </a:r>
                    </a:p>
                  </a:txBody>
                  <a:tcPr anchor="ctr">
                    <a:solidFill>
                      <a:srgbClr val="F8FAFC"/>
                    </a:solidFill>
                  </a:tcPr>
                </a:tc>
                <a:tc>
                  <a:txBody>
                    <a:bodyPr/>
                    <a:lstStyle/>
                    <a:p>
                      <a:pPr algn="ctr">
                        <a:defRPr sz="1000">
                          <a:solidFill>
                            <a:srgbClr val="282D37"/>
                          </a:solidFill>
                        </a:defRPr>
                      </a:pPr>
                      <a:r>
                        <a:t>100.00%</a:t>
                      </a:r>
                    </a:p>
                  </a:txBody>
                  <a:tcPr anchor="ctr">
                    <a:solidFill>
                      <a:srgbClr val="F8FAFC"/>
                    </a:solidFill>
                  </a:tcPr>
                </a:tc>
                <a:tc>
                  <a:txBody>
                    <a:bodyPr/>
                    <a:lstStyle/>
                    <a:p>
                      <a:pPr algn="ctr">
                        <a:defRPr sz="1000">
                          <a:solidFill>
                            <a:srgbClr val="282D37"/>
                          </a:solidFill>
                        </a:defRPr>
                      </a:pPr>
                      <a:r>
                        <a:t>100.00%</a:t>
                      </a:r>
                    </a:p>
                  </a:txBody>
                  <a:tcPr anchor="ctr">
                    <a:solidFill>
                      <a:srgbClr val="F8FAFC"/>
                    </a:solidFill>
                  </a:tcPr>
                </a:tc>
                <a:tc>
                  <a:txBody>
                    <a:bodyPr/>
                    <a:lstStyle/>
                    <a:p>
                      <a:pPr algn="ctr">
                        <a:defRPr sz="1000">
                          <a:solidFill>
                            <a:srgbClr val="282D37"/>
                          </a:solidFill>
                        </a:defRPr>
                      </a:pPr>
                      <a:r>
                        <a:t>100.00%</a:t>
                      </a:r>
                    </a:p>
                  </a:txBody>
                  <a:tcPr anchor="ctr">
                    <a:solidFill>
                      <a:srgbClr val="F8FAFC"/>
                    </a:solidFill>
                  </a:tcPr>
                </a:tc>
                <a:tc>
                  <a:txBody>
                    <a:bodyPr/>
                    <a:lstStyle/>
                    <a:p>
                      <a:pPr algn="ctr">
                        <a:defRPr sz="1000">
                          <a:solidFill>
                            <a:srgbClr val="282D37"/>
                          </a:solidFill>
                        </a:defRPr>
                      </a:pPr>
                      <a:r>
                        <a:t>Bóc tách chính xác các định dạng 0938..., +84...</a:t>
                      </a:r>
                    </a:p>
                  </a:txBody>
                  <a:tcPr anchor="ctr">
                    <a:solidFill>
                      <a:srgbClr val="F8FAFC"/>
                    </a:solidFill>
                  </a:tcPr>
                </a:tc>
              </a:tr>
              <a:tr h="441960">
                <a:tc>
                  <a:txBody>
                    <a:bodyPr/>
                    <a:lstStyle/>
                    <a:p>
                      <a:pPr algn="l">
                        <a:defRPr sz="1000">
                          <a:solidFill>
                            <a:srgbClr val="282D37"/>
                          </a:solidFill>
                        </a:defRPr>
                      </a:pPr>
                      <a:r>
                        <a:t>Độ chính xác Action Intent</a:t>
                      </a:r>
                    </a:p>
                  </a:txBody>
                  <a:tcPr anchor="ctr">
                    <a:solidFill>
                      <a:srgbClr val="FFFFFF"/>
                    </a:solidFill>
                  </a:tcPr>
                </a:tc>
                <a:tc>
                  <a:txBody>
                    <a:bodyPr/>
                    <a:lstStyle/>
                    <a:p>
                      <a:pPr algn="ctr">
                        <a:defRPr sz="1000">
                          <a:solidFill>
                            <a:srgbClr val="282D37"/>
                          </a:solidFill>
                        </a:defRPr>
                      </a:pPr>
                      <a:r>
                        <a:t>—</a:t>
                      </a:r>
                    </a:p>
                  </a:txBody>
                  <a:tcPr anchor="ctr">
                    <a:solidFill>
                      <a:srgbClr val="FFFFFF"/>
                    </a:solidFill>
                  </a:tcPr>
                </a:tc>
                <a:tc>
                  <a:txBody>
                    <a:bodyPr/>
                    <a:lstStyle/>
                    <a:p>
                      <a:pPr algn="ctr">
                        <a:defRPr sz="1000">
                          <a:solidFill>
                            <a:srgbClr val="282D37"/>
                          </a:solidFill>
                        </a:defRPr>
                      </a:pPr>
                      <a:r>
                        <a:t>—</a:t>
                      </a:r>
                    </a:p>
                  </a:txBody>
                  <a:tcPr anchor="ctr">
                    <a:solidFill>
                      <a:srgbClr val="FFFFFF"/>
                    </a:solidFill>
                  </a:tcPr>
                </a:tc>
                <a:tc>
                  <a:txBody>
                    <a:bodyPr/>
                    <a:lstStyle/>
                    <a:p>
                      <a:pPr algn="ctr">
                        <a:defRPr sz="1000">
                          <a:solidFill>
                            <a:srgbClr val="282D37"/>
                          </a:solidFill>
                        </a:defRPr>
                      </a:pPr>
                      <a:r>
                        <a:t>87.50%</a:t>
                      </a:r>
                    </a:p>
                  </a:txBody>
                  <a:tcPr anchor="ctr">
                    <a:solidFill>
                      <a:srgbClr val="FFFFFF"/>
                    </a:solidFill>
                  </a:tcPr>
                </a:tc>
                <a:tc>
                  <a:txBody>
                    <a:bodyPr/>
                    <a:lstStyle/>
                    <a:p>
                      <a:pPr algn="ctr">
                        <a:defRPr sz="1000">
                          <a:solidFill>
                            <a:srgbClr val="282D37"/>
                          </a:solidFill>
                        </a:defRPr>
                      </a:pPr>
                      <a:r>
                        <a:t>Nhận diện đúng 87.5% ý định gọi Tool nghiệp vụ</a:t>
                      </a:r>
                    </a:p>
                  </a:txBody>
                  <a:tcPr anchor="ctr">
                    <a:solidFill>
                      <a:srgbClr val="FFFFFF"/>
                    </a:solidFill>
                  </a:tcPr>
                </a:tc>
              </a:tr>
            </a:tbl>
          </a:graphicData>
        </a:graphic>
      </p:graphicFrame>
      <p:sp>
        <p:nvSpPr>
          <p:cNvPr id="5" name="Rounded Rectangle 4"/>
          <p:cNvSpPr/>
          <p:nvPr/>
        </p:nvSpPr>
        <p:spPr>
          <a:xfrm>
            <a:off x="731520" y="4389120"/>
            <a:ext cx="10698480" cy="182880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1F4E79"/>
                </a:solidFill>
              </a:defRPr>
            </a:pPr>
            <a:r>
              <a:t>Độ chính xác nhận diện Tool Action Intent (87.5%) để làm gì?</a:t>
            </a:r>
          </a:p>
          <a:p>
            <a:pPr>
              <a:spcAft>
                <a:spcPts val="400"/>
              </a:spcAft>
              <a:defRPr sz="1100">
                <a:solidFill>
                  <a:srgbClr val="282D37"/>
                </a:solidFill>
              </a:defRPr>
            </a:pPr>
            <a:r>
              <a:t>•  Khách nói: 'Hủy đơn ORD-1026 giúp tôi vì không có tiền nhận' -&gt; Chatbot cũ chỉ tra đơn rồi nói suông; AI Copilot hiểu intent 'cancel', bóc lý do và tự động gọi tool cancel_order('ORD-1026') cập nhật CSDL ngay lập tức.</a:t>
            </a:r>
          </a:p>
          <a:p>
            <a:pPr>
              <a:spcAft>
                <a:spcPts val="400"/>
              </a:spcAft>
              <a:defRPr sz="1100">
                <a:solidFill>
                  <a:srgbClr val="282D37"/>
                </a:solidFill>
              </a:defRPr>
            </a:pPr>
            <a:r>
              <a:t>•  F1 = 100% chứng minh hệ thống không bắt nhầm dãy số linh tinh (Precision 100%) và không bỏ sót bất kỳ thói quen gõ chat nào của người Việt (Recall 100%).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950" b="1">
                <a:solidFill>
                  <a:srgbClr val="2E75B6"/>
                </a:solidFill>
              </a:defRPr>
            </a:pPr>
            <a:r>
              <a:t>AI CUSTOMER SUPPORT COPILOT • MODULE 2 &amp; 3</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F4E79"/>
                </a:solidFill>
              </a:defRPr>
            </a:pPr>
            <a:r>
              <a:t>Kiểm thử Hồi quy (18/18 Tests) &amp; Giao diện Streamlit Workbench</a:t>
            </a:r>
          </a:p>
        </p:txBody>
      </p:sp>
      <p:sp>
        <p:nvSpPr>
          <p:cNvPr id="4" name="Rounded Rectangle 3"/>
          <p:cNvSpPr/>
          <p:nvPr/>
        </p:nvSpPr>
        <p:spPr>
          <a:xfrm>
            <a:off x="731520" y="1463040"/>
            <a:ext cx="5120640" cy="475488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107C41"/>
                </a:solidFill>
              </a:defRPr>
            </a:pPr>
            <a:r>
              <a:t>Kiểm thử Tự động (18/18 Tests Passed)</a:t>
            </a:r>
          </a:p>
          <a:p>
            <a:pPr>
              <a:spcAft>
                <a:spcPts val="400"/>
              </a:spcAft>
              <a:defRPr sz="1100">
                <a:solidFill>
                  <a:srgbClr val="282D37"/>
                </a:solidFill>
              </a:defRPr>
            </a:pPr>
            <a:r>
              <a:t>•  Bộ kiểm thử toàn diện: python -m unittest discover tests.</a:t>
            </a:r>
          </a:p>
          <a:p>
            <a:pPr>
              <a:spcAft>
                <a:spcPts val="400"/>
              </a:spcAft>
              <a:defRPr sz="1100">
                <a:solidFill>
                  <a:srgbClr val="282D37"/>
                </a:solidFill>
              </a:defRPr>
            </a:pPr>
            <a:r>
              <a:t>•  12 tests hồi quy Module 1 &amp; 2: Guardrails, Latency benchmark, Policy Freshness.</a:t>
            </a:r>
          </a:p>
          <a:p>
            <a:pPr>
              <a:spcAft>
                <a:spcPts val="400"/>
              </a:spcAft>
              <a:defRPr sz="1100">
                <a:solidFill>
                  <a:srgbClr val="282D37"/>
                </a:solidFill>
              </a:defRPr>
            </a:pPr>
            <a:r>
              <a:t>•  6 tests tích hợp Module 3: Migration count 100 đơn, Tra cứu mã đơn &amp; SĐT, LRU Cache eviction, Logic hủy đơn an toàn, Bóc tách thực thể.</a:t>
            </a:r>
          </a:p>
          <a:p>
            <a:pPr>
              <a:spcAft>
                <a:spcPts val="400"/>
              </a:spcAft>
              <a:defRPr sz="1100">
                <a:solidFill>
                  <a:srgbClr val="282D37"/>
                </a:solidFill>
              </a:defRPr>
            </a:pPr>
            <a:r>
              <a:t>•  Thời gian chạy toàn bộ: 0.19 giây (Độ ổn định 100%).</a:t>
            </a:r>
          </a:p>
        </p:txBody>
      </p:sp>
      <p:sp>
        <p:nvSpPr>
          <p:cNvPr id="5" name="Rounded Rectangle 4"/>
          <p:cNvSpPr/>
          <p:nvPr/>
        </p:nvSpPr>
        <p:spPr>
          <a:xfrm>
            <a:off x="6217920" y="1463040"/>
            <a:ext cx="5120640" cy="475488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1F4E79"/>
                </a:solidFill>
              </a:defRPr>
            </a:pPr>
            <a:r>
              <a:t>Tích hợp Streamlit UI (Port 8501)</a:t>
            </a:r>
          </a:p>
          <a:p>
            <a:pPr>
              <a:spcAft>
                <a:spcPts val="400"/>
              </a:spcAft>
              <a:defRPr sz="1100">
                <a:solidFill>
                  <a:srgbClr val="282D37"/>
                </a:solidFill>
              </a:defRPr>
            </a:pPr>
            <a:r>
              <a:t>•  Tab 1 (Agent Workbench):</a:t>
            </a:r>
          </a:p>
          <a:p>
            <a:pPr>
              <a:spcAft>
                <a:spcPts val="400"/>
              </a:spcAft>
              <a:defRPr sz="1100">
                <a:solidFill>
                  <a:srgbClr val="282D37"/>
                </a:solidFill>
              </a:defRPr>
            </a:pPr>
            <a:r>
              <a:t>•    • Hộp 'Tool Calling thời gian thực': Hiển thị tên tool, tham số, độ trễ ms và JSON kết quả.</a:t>
            </a:r>
          </a:p>
          <a:p>
            <a:pPr>
              <a:spcAft>
                <a:spcPts val="400"/>
              </a:spcAft>
              <a:defRPr sz="1100">
                <a:solidFill>
                  <a:srgbClr val="282D37"/>
                </a:solidFill>
              </a:defRPr>
            </a:pPr>
            <a:r>
              <a:t>•    • Hộp đối soát đơn hàng: Hiển thị giỏ hàng, số tiền, lộ trình bưu tá GHN.</a:t>
            </a:r>
          </a:p>
          <a:p>
            <a:pPr>
              <a:spcAft>
                <a:spcPts val="400"/>
              </a:spcAft>
              <a:defRPr sz="1100">
                <a:solidFill>
                  <a:srgbClr val="282D37"/>
                </a:solidFill>
              </a:defRPr>
            </a:pPr>
            <a:r>
              <a:t>•    • 4 nút Human-in-the-Loop: Duyệt, Sửa, Từ chối, Chuyển cấp trên.</a:t>
            </a:r>
          </a:p>
          <a:p>
            <a:pPr>
              <a:spcAft>
                <a:spcPts val="400"/>
              </a:spcAft>
              <a:defRPr sz="1100">
                <a:solidFill>
                  <a:srgbClr val="282D37"/>
                </a:solidFill>
              </a:defRPr>
            </a:pPr>
            <a:r>
              <a:t>•  Tab 2 (Analytics Dashboard):</a:t>
            </a:r>
          </a:p>
          <a:p>
            <a:pPr>
              <a:spcAft>
                <a:spcPts val="400"/>
              </a:spcAft>
              <a:defRPr sz="1100">
                <a:solidFill>
                  <a:srgbClr val="282D37"/>
                </a:solidFill>
              </a:defRPr>
            </a:pPr>
            <a:r>
              <a:t>•    • Giám sát trực tiếp hiệu năng LRU Cache (Hit Ratio %, Hits, Misses, Cache Size).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950" b="1">
                <a:solidFill>
                  <a:srgbClr val="2E75B6"/>
                </a:solidFill>
              </a:defRPr>
            </a:pPr>
            <a:r>
              <a:t>AI CUSTOMER SUPPORT COPILOT • MODULE 2 &amp; 3</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F4E79"/>
                </a:solidFill>
              </a:defRPr>
            </a:pPr>
            <a:r>
              <a:t>Tổng kết Giá trị Đạt được ở Module 2 &amp; Module 3</a:t>
            </a:r>
          </a:p>
        </p:txBody>
      </p:sp>
      <p:sp>
        <p:nvSpPr>
          <p:cNvPr id="4" name="Rounded Rectangle 3"/>
          <p:cNvSpPr/>
          <p:nvPr/>
        </p:nvSpPr>
        <p:spPr>
          <a:xfrm>
            <a:off x="731520" y="1463040"/>
            <a:ext cx="5120640" cy="475488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1F4E79"/>
                </a:solidFill>
              </a:defRPr>
            </a:pPr>
            <a:r>
              <a:t>Module 2: RAG Tri thức Chính sách Sàn</a:t>
            </a:r>
          </a:p>
          <a:p>
            <a:pPr>
              <a:spcAft>
                <a:spcPts val="400"/>
              </a:spcAft>
              <a:defRPr sz="1100">
                <a:solidFill>
                  <a:srgbClr val="282D37"/>
                </a:solidFill>
              </a:defRPr>
            </a:pPr>
            <a:r>
              <a:t>•  Làm chủ và đối sánh 5 kiến trúc tìm kiếm từ khóa và vector.</a:t>
            </a:r>
          </a:p>
          <a:p>
            <a:pPr>
              <a:spcAft>
                <a:spcPts val="400"/>
              </a:spcAft>
              <a:defRPr sz="1100">
                <a:solidFill>
                  <a:srgbClr val="282D37"/>
                </a:solidFill>
              </a:defRPr>
            </a:pPr>
            <a:r>
              <a:t>•  Đưa độ trễ truy xuất chính sách về 0.66 ms (vượt chỉ tiêu &lt; 15 ms).</a:t>
            </a:r>
          </a:p>
          <a:p>
            <a:pPr>
              <a:spcAft>
                <a:spcPts val="400"/>
              </a:spcAft>
              <a:defRPr sz="1100">
                <a:solidFill>
                  <a:srgbClr val="282D37"/>
                </a:solidFill>
              </a:defRPr>
            </a:pPr>
            <a:r>
              <a:t>•  Độ chính xác hoàn hảo: Hit Rate@3 đạt 100.00%, Recall@3 đạt 99.04%.</a:t>
            </a:r>
          </a:p>
          <a:p>
            <a:pPr>
              <a:spcAft>
                <a:spcPts val="400"/>
              </a:spcAft>
              <a:defRPr sz="1100">
                <a:solidFill>
                  <a:srgbClr val="282D37"/>
                </a:solidFill>
              </a:defRPr>
            </a:pPr>
            <a:r>
              <a:t>•  Ràng buộc an toàn: Không bịa thông tin, bắt buộc trích dẫn mã điều khoản [POL-xxx] còn hiệu lực.</a:t>
            </a:r>
          </a:p>
        </p:txBody>
      </p:sp>
      <p:sp>
        <p:nvSpPr>
          <p:cNvPr id="5" name="Rounded Rectangle 4"/>
          <p:cNvSpPr/>
          <p:nvPr/>
        </p:nvSpPr>
        <p:spPr>
          <a:xfrm>
            <a:off x="6217920" y="1463040"/>
            <a:ext cx="5120640" cy="475488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107C41"/>
                </a:solidFill>
              </a:defRPr>
            </a:pPr>
            <a:r>
              <a:t>Module 3: Dữ liệu Động &amp; Tool Calling</a:t>
            </a:r>
          </a:p>
          <a:p>
            <a:pPr>
              <a:spcAft>
                <a:spcPts val="400"/>
              </a:spcAft>
              <a:defRPr sz="1100">
                <a:solidFill>
                  <a:srgbClr val="282D37"/>
                </a:solidFill>
              </a:defRPr>
            </a:pPr>
            <a:r>
              <a:t>•  Xóa bỏ điểm nghẽn I/O file JSON, nâng thông lượng lên 11,532 truy vấn/giây.</a:t>
            </a:r>
          </a:p>
          <a:p>
            <a:pPr>
              <a:spcAft>
                <a:spcPts val="400"/>
              </a:spcAft>
              <a:defRPr sz="1100">
                <a:solidFill>
                  <a:srgbClr val="282D37"/>
                </a:solidFill>
              </a:defRPr>
            </a:pPr>
            <a:r>
              <a:t>•  Đưa độ trễ truy xuất CSDL về 0.017 ms trên RAM và 0.85 ms trên đĩa B-Tree (&lt; 2 ms).</a:t>
            </a:r>
          </a:p>
          <a:p>
            <a:pPr>
              <a:spcAft>
                <a:spcPts val="400"/>
              </a:spcAft>
              <a:defRPr sz="1100">
                <a:solidFill>
                  <a:srgbClr val="282D37"/>
                </a:solidFill>
              </a:defRPr>
            </a:pPr>
            <a:r>
              <a:t>•  Tự động hóa nghiệp vụ: ReAct Agent tự bóc tách thực thể và thực thi tool chuẩn xác (F1 = 100%).</a:t>
            </a:r>
          </a:p>
          <a:p>
            <a:pPr>
              <a:spcAft>
                <a:spcPts val="400"/>
              </a:spcAft>
              <a:defRPr sz="1100">
                <a:solidFill>
                  <a:srgbClr val="282D37"/>
                </a:solidFill>
              </a:defRPr>
            </a:pPr>
            <a:r>
              <a:t>•  Bảo vệ an toàn: Chặn hủy đơn đang giao, hỗ trợ đối soát tài chính trực tiếp.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950" b="1">
                <a:solidFill>
                  <a:srgbClr val="2E75B6"/>
                </a:solidFill>
              </a:defRPr>
            </a:pPr>
            <a:r>
              <a:t>AI CUSTOMER SUPPORT COPILOT • MODULE 2 &amp; 3</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F4E79"/>
                </a:solidFill>
              </a:defRPr>
            </a:pPr>
            <a:r>
              <a:t>Định hướng Phát triển Giai đoạn Tiếp theo</a:t>
            </a:r>
          </a:p>
        </p:txBody>
      </p:sp>
      <p:sp>
        <p:nvSpPr>
          <p:cNvPr id="4" name="Rounded Rectangle 3"/>
          <p:cNvSpPr/>
          <p:nvPr/>
        </p:nvSpPr>
        <p:spPr>
          <a:xfrm>
            <a:off x="731520" y="1463040"/>
            <a:ext cx="3291840" cy="475488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1F4E79"/>
                </a:solidFill>
              </a:defRPr>
            </a:pPr>
            <a:r>
              <a:t>1. Finetuning Model Intent</a:t>
            </a:r>
          </a:p>
          <a:p>
            <a:pPr>
              <a:spcAft>
                <a:spcPts val="400"/>
              </a:spcAft>
              <a:defRPr sz="1100">
                <a:solidFill>
                  <a:srgbClr val="282D37"/>
                </a:solidFill>
              </a:defRPr>
            </a:pPr>
            <a:r>
              <a:t>•  Hiện tại: Model Intent tiếng Anh bị lệch pha OOV với câu hỏi tiếng Việt.</a:t>
            </a:r>
          </a:p>
          <a:p>
            <a:pPr>
              <a:spcAft>
                <a:spcPts val="400"/>
              </a:spcAft>
              <a:defRPr sz="1100">
                <a:solidFill>
                  <a:srgbClr val="282D37"/>
                </a:solidFill>
              </a:defRPr>
            </a:pPr>
            <a:r>
              <a:t>•  Kế hoạch: Huấn luyện lại mô hình phân loại ý định trên tập dữ liệu Vietnamese-Customer-Support-QA (đã có sẵn trong data/raw).</a:t>
            </a:r>
          </a:p>
          <a:p>
            <a:pPr>
              <a:spcAft>
                <a:spcPts val="400"/>
              </a:spcAft>
              <a:defRPr sz="1100">
                <a:solidFill>
                  <a:srgbClr val="282D37"/>
                </a:solidFill>
              </a:defRPr>
            </a:pPr>
            <a:r>
              <a:t>•  Mục tiêu: Nâng độ tin cậy nhận diện câu tiếng Việt từ 10% lên &gt; 90%.</a:t>
            </a:r>
          </a:p>
        </p:txBody>
      </p:sp>
      <p:sp>
        <p:nvSpPr>
          <p:cNvPr id="5" name="Rounded Rectangle 4"/>
          <p:cNvSpPr/>
          <p:nvPr/>
        </p:nvSpPr>
        <p:spPr>
          <a:xfrm>
            <a:off x="4389120" y="1463040"/>
            <a:ext cx="3291840" cy="475488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2E75B6"/>
                </a:solidFill>
              </a:defRPr>
            </a:pPr>
            <a:r>
              <a:t>2. Caching Phân tán (Redis)</a:t>
            </a:r>
          </a:p>
          <a:p>
            <a:pPr>
              <a:spcAft>
                <a:spcPts val="400"/>
              </a:spcAft>
              <a:defRPr sz="1100">
                <a:solidFill>
                  <a:srgbClr val="282D37"/>
                </a:solidFill>
              </a:defRPr>
            </a:pPr>
            <a:r>
              <a:t>•  Hiện tại: OrderLRUCache chạy bộ nhớ trong RAM của 1 tiến trình.</a:t>
            </a:r>
          </a:p>
          <a:p>
            <a:pPr>
              <a:spcAft>
                <a:spcPts val="400"/>
              </a:spcAft>
              <a:defRPr sz="1100">
                <a:solidFill>
                  <a:srgbClr val="282D37"/>
                </a:solidFill>
              </a:defRPr>
            </a:pPr>
            <a:r>
              <a:t>•  Kế hoạch: Mở rộng lớp Caching sang Redis Cluster khi triển khai hệ thống phân tán trên Kubernetes nhiều Pod.</a:t>
            </a:r>
          </a:p>
          <a:p>
            <a:pPr>
              <a:spcAft>
                <a:spcPts val="400"/>
              </a:spcAft>
              <a:defRPr sz="1100">
                <a:solidFill>
                  <a:srgbClr val="282D37"/>
                </a:solidFill>
              </a:defRPr>
            </a:pPr>
            <a:r>
              <a:t>•  Mục tiêu: Chia sẻ cache đồng bộ giữa các cụm Gateway và Worker.</a:t>
            </a:r>
          </a:p>
        </p:txBody>
      </p:sp>
      <p:sp>
        <p:nvSpPr>
          <p:cNvPr id="6" name="Rounded Rectangle 5"/>
          <p:cNvSpPr/>
          <p:nvPr/>
        </p:nvSpPr>
        <p:spPr>
          <a:xfrm>
            <a:off x="8046720" y="1463040"/>
            <a:ext cx="3291840" cy="475488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800"/>
              </a:spcAft>
              <a:defRPr sz="1400" b="1">
                <a:solidFill>
                  <a:srgbClr val="107C41"/>
                </a:solidFill>
              </a:defRPr>
            </a:pPr>
            <a:r>
              <a:t>3. Mở rộng Function Tools</a:t>
            </a:r>
          </a:p>
          <a:p>
            <a:pPr>
              <a:spcAft>
                <a:spcPts val="400"/>
              </a:spcAft>
              <a:defRPr sz="1100">
                <a:solidFill>
                  <a:srgbClr val="282D37"/>
                </a:solidFill>
              </a:defRPr>
            </a:pPr>
            <a:r>
              <a:t>•  Hiện tại: Đã có 4 tool tra cứu và hủy đơn.</a:t>
            </a:r>
          </a:p>
          <a:p>
            <a:pPr>
              <a:spcAft>
                <a:spcPts val="400"/>
              </a:spcAft>
              <a:defRPr sz="1100">
                <a:solidFill>
                  <a:srgbClr val="282D37"/>
                </a:solidFill>
              </a:defRPr>
            </a:pPr>
            <a:r>
              <a:t>•  Kế hoạch: Tích hợp thêm các API nghiệp vụ nâng cao:</a:t>
            </a:r>
          </a:p>
          <a:p>
            <a:pPr>
              <a:spcAft>
                <a:spcPts val="400"/>
              </a:spcAft>
              <a:defRPr sz="1100">
                <a:solidFill>
                  <a:srgbClr val="282D37"/>
                </a:solidFill>
              </a:defRPr>
            </a:pPr>
            <a:r>
              <a:t>•    • Xuất hóa đơn đỏ VAT điện tử.</a:t>
            </a:r>
          </a:p>
          <a:p>
            <a:pPr>
              <a:spcAft>
                <a:spcPts val="400"/>
              </a:spcAft>
              <a:defRPr sz="1100">
                <a:solidFill>
                  <a:srgbClr val="282D37"/>
                </a:solidFill>
              </a:defRPr>
            </a:pPr>
            <a:r>
              <a:t>•    • Đổi địa chỉ nhận hàng linh hoạt.</a:t>
            </a:r>
          </a:p>
          <a:p>
            <a:pPr>
              <a:spcAft>
                <a:spcPts val="400"/>
              </a:spcAft>
              <a:defRPr sz="1100">
                <a:solidFill>
                  <a:srgbClr val="282D37"/>
                </a:solidFill>
              </a:defRPr>
            </a:pPr>
            <a:r>
              <a:t>•    • Áp mã voucher khuyến mãi tự động.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